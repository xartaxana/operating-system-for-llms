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044" autoAdjust="0"/>
  </p:normalViewPr>
  <p:slideViewPr>
    <p:cSldViewPr snapToGrid="0">
      <p:cViewPr varScale="1">
        <p:scale>
          <a:sx n="98" d="100"/>
          <a:sy n="98" d="100"/>
        </p:scale>
        <p:origin x="10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https://openai.com/academy/workspace-agents/</a:t>
            </a:r>
          </a:p>
          <a:p>
            <a:r>
              <a:t>https://openai.com/business/guides-and-resources/a-practical-guide-to-building-ai-agents/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https://help.openai.com/en/articles/10032626-prompt-gineering-best-practices-for-chatgpt</a:t>
            </a:r>
          </a:p>
          <a:p>
            <a:r>
              <a:t>https://openai.com/academy/workspace-agents/</a:t>
            </a:r>
          </a:p>
          <a:p>
            <a:r>
              <a:t>https://www.anthropic.com/engineering/building-effective-agents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https://openai.com/business/guides-and-resources/a-practical-guide-to-building-ai-agents/</a:t>
            </a:r>
          </a:p>
          <a:p>
            <a:r>
              <a:t>https://openai.com/academy/workspace-agents/</a:t>
            </a:r>
          </a:p>
          <a:p>
            <a:r>
              <a:t>User-provided operating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FED5-7812-4615-0633-DCCD4B46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66BF7-A3A3-7D29-B8D9-C481A124E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2937F-77EA-5B7D-C5D9-8DBB5619B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Одна команда → фабрика агентов</a:t>
            </a:r>
            <a:endParaRPr lang="ru-RU" dirty="0"/>
          </a:p>
          <a:p>
            <a:r>
              <a:rPr lang="ru-RU" dirty="0"/>
              <a:t>Раньше одна команда означала один ответ одной модели. Теперь она может запускать целый рабочий процесс: </a:t>
            </a:r>
            <a:r>
              <a:rPr lang="ru-RU" dirty="0" err="1"/>
              <a:t>Lead</a:t>
            </a:r>
            <a:r>
              <a:rPr lang="ru-RU" dirty="0"/>
              <a:t> разбирает цель, несколько агентов параллельно ищут информацию и делают части работы, критик проверяет результат, а </a:t>
            </a:r>
            <a:r>
              <a:rPr lang="ru-RU" dirty="0" err="1"/>
              <a:t>Lead</a:t>
            </a:r>
            <a:r>
              <a:rPr lang="ru-RU" dirty="0"/>
              <a:t> собирает итог.</a:t>
            </a:r>
          </a:p>
          <a:p>
            <a:r>
              <a:rPr lang="ru-RU" dirty="0"/>
              <a:t>Это не «много ИИ ради много ИИ». Смысл в разделении ролей: один отвечает за план, другие — за исполнение, отдельный контур — за проверку. Так уменьшается вероятность, что одна модель одновременно придумала решение, сама его выполнила и сама же объявила правильным.</a:t>
            </a:r>
          </a:p>
          <a:p>
            <a:r>
              <a:rPr lang="ru-RU" dirty="0"/>
              <a:t>Но фабрика не отменяет ответственность человека. Человек задаёт цель, ограничения и гейты приёмки; ИИ-команда делает работу внутри этих рамок.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61035-222B-13A9-6100-84754271F8D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0796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https://openai.com/academy/workspace-agents/</a:t>
            </a:r>
          </a:p>
          <a:p>
            <a:r>
              <a:t>https://openai.com/business/guides-and-resources/a-practical-guide-to-building-ai-agents/</a:t>
            </a:r>
          </a:p>
          <a:p>
            <a:r>
              <a:t>https://www.anthropic.com/engineering/building-effective-agents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6BCC4596-722C-468A-90F3-3A030C48179C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Вступление к докладу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78F1995-EE62-40A0-9754-9F43FBE1750E}"/>
              </a:ext>
            </a:extLst>
          </p:cNvPr>
          <p:cNvSpPr>
            <a:spLocks noGrp="1"/>
          </p:cNvSpPr>
          <p:nvPr/>
        </p:nvSpPr>
        <p:spPr>
          <a:xfrm>
            <a:off x="400050" y="1314450"/>
            <a:ext cx="6858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500" b="1">
                <a:solidFill>
                  <a:srgbClr val="101828"/>
                </a:solidFill>
              </a:defRPr>
            </a:pPr>
            <a:r>
              <a:rPr sz="4500" b="1">
                <a:solidFill>
                  <a:srgbClr val="101828"/>
                </a:solidFill>
              </a:rPr>
              <a:t>От промтов</a:t>
            </a:r>
          </a:p>
          <a:p>
            <a:pPr algn="l">
              <a:defRPr sz="4500" b="1">
                <a:solidFill>
                  <a:srgbClr val="101828"/>
                </a:solidFill>
              </a:defRPr>
            </a:pPr>
            <a:r>
              <a:rPr sz="4500" b="1">
                <a:solidFill>
                  <a:srgbClr val="101828"/>
                </a:solidFill>
              </a:rPr>
              <a:t>к команде ИИ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2D893E2-04EC-4CD1-B390-8E0DAC6EF0DF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695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0">
                <a:solidFill>
                  <a:srgbClr val="475467"/>
                </a:solidFill>
              </a:defRPr>
            </a:pPr>
            <a:r>
              <a:rPr sz="2025" b="0">
                <a:solidFill>
                  <a:srgbClr val="475467"/>
                </a:solidFill>
              </a:rPr>
              <a:t>Как менялся способ общения с моделью —</a:t>
            </a:r>
          </a:p>
          <a:p>
            <a:pPr algn="l">
              <a:defRPr sz="2025" b="0">
                <a:solidFill>
                  <a:srgbClr val="475467"/>
                </a:solidFill>
              </a:defRPr>
            </a:pPr>
            <a:r>
              <a:rPr sz="2025" b="0">
                <a:solidFill>
                  <a:srgbClr val="475467"/>
                </a:solidFill>
              </a:rPr>
              <a:t>и почему сегодня важнее ставить цели и гейты, чем писать идеальный запрос.</a:t>
            </a:r>
          </a:p>
        </p:txBody>
      </p:sp>
      <p:sp>
        <p:nvSpPr>
          <p:cNvPr id="4" name="hero-frame">
            <a:extLst>
              <a:ext uri="{FF2B5EF4-FFF2-40B4-BE49-F238E27FC236}">
                <a16:creationId xmlns:a16="http://schemas.microsoft.com/office/drawing/2014/main" id="{E032F33D-B718-47B8-856D-1E7C88B9583E}"/>
              </a:ext>
            </a:extLst>
          </p:cNvPr>
          <p:cNvSpPr>
            <a:spLocks noGrp="1"/>
          </p:cNvSpPr>
          <p:nvPr/>
        </p:nvSpPr>
        <p:spPr>
          <a:xfrm>
            <a:off x="8210550" y="1257300"/>
            <a:ext cx="2781300" cy="3124200"/>
          </a:xfrm>
          <a:prstGeom prst="roundRect">
            <a:avLst>
              <a:gd name="adj" fmla="val 4110"/>
            </a:avLst>
          </a:prstGeom>
          <a:solidFill>
            <a:srgbClr val="EAF5FB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" name="hero-1">
            <a:extLst>
              <a:ext uri="{FF2B5EF4-FFF2-40B4-BE49-F238E27FC236}">
                <a16:creationId xmlns:a16="http://schemas.microsoft.com/office/drawing/2014/main" id="{DB116BA8-B707-4222-9BC5-55868C4D2933}"/>
              </a:ext>
            </a:extLst>
          </p:cNvPr>
          <p:cNvSpPr>
            <a:spLocks noGrp="1"/>
          </p:cNvSpPr>
          <p:nvPr/>
        </p:nvSpPr>
        <p:spPr>
          <a:xfrm>
            <a:off x="8524875" y="137160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6335B"/>
                </a:solidFill>
              </a:defRPr>
            </a:pPr>
            <a:r>
              <a:rPr sz="1725" b="1" dirty="0" err="1">
                <a:solidFill>
                  <a:srgbClr val="16335B"/>
                </a:solidFill>
              </a:rPr>
              <a:t>сказать</a:t>
            </a:r>
            <a:endParaRPr sz="1725" b="1" dirty="0">
              <a:solidFill>
                <a:srgbClr val="16335B"/>
              </a:solidFill>
            </a:endParaRPr>
          </a:p>
          <a:p>
            <a:pPr algn="ctr">
              <a:defRPr sz="1725" b="1">
                <a:solidFill>
                  <a:srgbClr val="16335B"/>
                </a:solidFill>
              </a:defRPr>
            </a:pPr>
            <a:r>
              <a:rPr sz="1725" b="1" dirty="0" err="1">
                <a:solidFill>
                  <a:srgbClr val="16335B"/>
                </a:solidFill>
              </a:rPr>
              <a:t>что</a:t>
            </a:r>
            <a:r>
              <a:rPr sz="1725" b="1" dirty="0">
                <a:solidFill>
                  <a:srgbClr val="16335B"/>
                </a:solidFill>
              </a:rPr>
              <a:t> </a:t>
            </a:r>
            <a:r>
              <a:rPr sz="1725" b="1" dirty="0" err="1">
                <a:solidFill>
                  <a:srgbClr val="16335B"/>
                </a:solidFill>
              </a:rPr>
              <a:t>нужно</a:t>
            </a:r>
            <a:endParaRPr sz="1725" b="1" dirty="0">
              <a:solidFill>
                <a:srgbClr val="16335B"/>
              </a:solidFill>
            </a:endParaRPr>
          </a:p>
        </p:txBody>
      </p:sp>
      <p:sp>
        <p:nvSpPr>
          <p:cNvPr id="6" name="hero-line-1">
            <a:extLst>
              <a:ext uri="{FF2B5EF4-FFF2-40B4-BE49-F238E27FC236}">
                <a16:creationId xmlns:a16="http://schemas.microsoft.com/office/drawing/2014/main" id="{D0FF4F1D-9E12-42DE-A7E3-B3FC528E427C}"/>
              </a:ext>
            </a:extLst>
          </p:cNvPr>
          <p:cNvSpPr>
            <a:spLocks noGrp="1"/>
          </p:cNvSpPr>
          <p:nvPr/>
        </p:nvSpPr>
        <p:spPr>
          <a:xfrm>
            <a:off x="8667750" y="2076450"/>
            <a:ext cx="186690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7" name="hero-2">
            <a:extLst>
              <a:ext uri="{FF2B5EF4-FFF2-40B4-BE49-F238E27FC236}">
                <a16:creationId xmlns:a16="http://schemas.microsoft.com/office/drawing/2014/main" id="{495114AC-805C-4A50-A8D7-3885A7B16C0A}"/>
              </a:ext>
            </a:extLst>
          </p:cNvPr>
          <p:cNvSpPr>
            <a:spLocks noGrp="1"/>
          </p:cNvSpPr>
          <p:nvPr/>
        </p:nvSpPr>
        <p:spPr>
          <a:xfrm>
            <a:off x="8524875" y="2257425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6335B"/>
                </a:solidFill>
              </a:defRPr>
            </a:pPr>
            <a:r>
              <a:rPr sz="1725" b="1" dirty="0" err="1">
                <a:solidFill>
                  <a:srgbClr val="16335B"/>
                </a:solidFill>
              </a:rPr>
              <a:t>доверить</a:t>
            </a:r>
            <a:endParaRPr sz="1725" b="1" dirty="0">
              <a:solidFill>
                <a:srgbClr val="16335B"/>
              </a:solidFill>
            </a:endParaRPr>
          </a:p>
          <a:p>
            <a:pPr algn="ctr">
              <a:defRPr sz="1725" b="1">
                <a:solidFill>
                  <a:srgbClr val="16335B"/>
                </a:solidFill>
              </a:defRPr>
            </a:pPr>
            <a:r>
              <a:rPr sz="1725" b="1" dirty="0" err="1">
                <a:solidFill>
                  <a:srgbClr val="16335B"/>
                </a:solidFill>
              </a:rPr>
              <a:t>как</a:t>
            </a:r>
            <a:r>
              <a:rPr sz="1725" b="1" dirty="0">
                <a:solidFill>
                  <a:srgbClr val="16335B"/>
                </a:solidFill>
              </a:rPr>
              <a:t> </a:t>
            </a:r>
            <a:r>
              <a:rPr sz="1725" b="1" dirty="0" err="1">
                <a:solidFill>
                  <a:srgbClr val="16335B"/>
                </a:solidFill>
              </a:rPr>
              <a:t>сделать</a:t>
            </a:r>
            <a:endParaRPr sz="1725" b="1" dirty="0">
              <a:solidFill>
                <a:srgbClr val="16335B"/>
              </a:solidFill>
            </a:endParaRPr>
          </a:p>
        </p:txBody>
      </p:sp>
      <p:sp>
        <p:nvSpPr>
          <p:cNvPr id="8" name="hero-line-2">
            <a:extLst>
              <a:ext uri="{FF2B5EF4-FFF2-40B4-BE49-F238E27FC236}">
                <a16:creationId xmlns:a16="http://schemas.microsoft.com/office/drawing/2014/main" id="{EA0141E2-EA5A-4180-AC7C-294A772C174B}"/>
              </a:ext>
            </a:extLst>
          </p:cNvPr>
          <p:cNvSpPr>
            <a:spLocks noGrp="1"/>
          </p:cNvSpPr>
          <p:nvPr/>
        </p:nvSpPr>
        <p:spPr>
          <a:xfrm>
            <a:off x="8667750" y="3017782"/>
            <a:ext cx="186690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9" name="hero-3">
            <a:extLst>
              <a:ext uri="{FF2B5EF4-FFF2-40B4-BE49-F238E27FC236}">
                <a16:creationId xmlns:a16="http://schemas.microsoft.com/office/drawing/2014/main" id="{CBA107C3-ABAF-468F-9C5A-1E5D0014213A}"/>
              </a:ext>
            </a:extLst>
          </p:cNvPr>
          <p:cNvSpPr>
            <a:spLocks noGrp="1"/>
          </p:cNvSpPr>
          <p:nvPr/>
        </p:nvSpPr>
        <p:spPr>
          <a:xfrm>
            <a:off x="8524875" y="3319462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6335B"/>
                </a:solidFill>
              </a:defRPr>
            </a:pPr>
            <a:r>
              <a:rPr sz="1725" b="1" dirty="0" err="1">
                <a:solidFill>
                  <a:srgbClr val="16335B"/>
                </a:solidFill>
              </a:rPr>
              <a:t>проверить</a:t>
            </a:r>
            <a:endParaRPr sz="1725" b="1" dirty="0">
              <a:solidFill>
                <a:srgbClr val="16335B"/>
              </a:solidFill>
            </a:endParaRPr>
          </a:p>
          <a:p>
            <a:pPr algn="ctr">
              <a:defRPr sz="1725" b="1">
                <a:solidFill>
                  <a:srgbClr val="16335B"/>
                </a:solidFill>
              </a:defRPr>
            </a:pPr>
            <a:r>
              <a:rPr sz="1725" b="1" dirty="0" err="1">
                <a:solidFill>
                  <a:srgbClr val="16335B"/>
                </a:solidFill>
              </a:rPr>
              <a:t>результат</a:t>
            </a:r>
            <a:endParaRPr sz="1725" b="1" dirty="0">
              <a:solidFill>
                <a:srgbClr val="1633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90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-rule-2">
            <a:extLst>
              <a:ext uri="{FF2B5EF4-FFF2-40B4-BE49-F238E27FC236}">
                <a16:creationId xmlns:a16="http://schemas.microsoft.com/office/drawing/2014/main" id="{0074B6E4-0EBC-4C81-9004-8C866EFED145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label-2">
            <a:extLst>
              <a:ext uri="{FF2B5EF4-FFF2-40B4-BE49-F238E27FC236}">
                <a16:creationId xmlns:a16="http://schemas.microsoft.com/office/drawing/2014/main" id="{928C0A4A-CC0A-4301-80DE-B51658679878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От промтов к команде ИИ</a:t>
            </a:r>
          </a:p>
        </p:txBody>
      </p:sp>
      <p:sp>
        <p:nvSpPr>
          <p:cNvPr id="3" name="footer-number-2">
            <a:extLst>
              <a:ext uri="{FF2B5EF4-FFF2-40B4-BE49-F238E27FC236}">
                <a16:creationId xmlns:a16="http://schemas.microsoft.com/office/drawing/2014/main" id="{828BC6BC-EA7B-4F4D-8C44-82D2E9522469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2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0FD03E5-EAAF-405D-9634-F7DF20C82223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Практика общения с ИИ прошла три режима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385F5E1E-B220-4BAE-AAEA-9DB8DE201137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1057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Это не строгая историческая шкала, а эволюция того, что пользователь ожидает от модели.</a:t>
            </a:r>
          </a:p>
        </p:txBody>
      </p:sp>
      <p:sp>
        <p:nvSpPr>
          <p:cNvPr id="6" name="timeline">
            <a:extLst>
              <a:ext uri="{FF2B5EF4-FFF2-40B4-BE49-F238E27FC236}">
                <a16:creationId xmlns:a16="http://schemas.microsoft.com/office/drawing/2014/main" id="{71CB68D5-B04C-4EA6-A1A3-DDC9CAE4879B}"/>
              </a:ext>
            </a:extLst>
          </p:cNvPr>
          <p:cNvSpPr>
            <a:spLocks noGrp="1"/>
          </p:cNvSpPr>
          <p:nvPr/>
        </p:nvSpPr>
        <p:spPr>
          <a:xfrm>
            <a:off x="2038350" y="3733800"/>
            <a:ext cx="8058150" cy="0"/>
          </a:xfrm>
          <a:prstGeom prst="line">
            <a:avLst/>
          </a:prstGeom>
          <a:noFill/>
          <a:ln w="28575">
            <a:solidFill>
              <a:srgbClr val="D0D5DD"/>
            </a:solidFill>
            <a:prstDash val="solid"/>
          </a:ln>
        </p:spPr>
      </p:sp>
      <p:sp>
        <p:nvSpPr>
          <p:cNvPr id="7" name="phase-0">
            <a:extLst>
              <a:ext uri="{FF2B5EF4-FFF2-40B4-BE49-F238E27FC236}">
                <a16:creationId xmlns:a16="http://schemas.microsoft.com/office/drawing/2014/main" id="{0D35740B-1A55-468B-9B39-6B79D10918CF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3333750" cy="2667000"/>
          </a:xfrm>
          <a:prstGeom prst="roundRect">
            <a:avLst>
              <a:gd name="adj" fmla="val 4286"/>
            </a:avLst>
          </a:prstGeom>
          <a:solidFill>
            <a:srgbClr val="FDECC8"/>
          </a:solidFill>
          <a:ln w="0">
            <a:noFill/>
            <a:prstDash val="solid"/>
          </a:ln>
        </p:spPr>
      </p:sp>
      <p:sp>
        <p:nvSpPr>
          <p:cNvPr id="8" name="phase-num-0">
            <a:extLst>
              <a:ext uri="{FF2B5EF4-FFF2-40B4-BE49-F238E27FC236}">
                <a16:creationId xmlns:a16="http://schemas.microsoft.com/office/drawing/2014/main" id="{22E7B631-0A52-4F50-9478-A63F2A879A74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phase-title-0">
            <a:extLst>
              <a:ext uri="{FF2B5EF4-FFF2-40B4-BE49-F238E27FC236}">
                <a16:creationId xmlns:a16="http://schemas.microsoft.com/office/drawing/2014/main" id="{F4AC2125-BEB7-4922-8BA4-B5ABEECAEE38}"/>
              </a:ext>
            </a:extLst>
          </p:cNvPr>
          <p:cNvSpPr>
            <a:spLocks noGrp="1"/>
          </p:cNvSpPr>
          <p:nvPr/>
        </p:nvSpPr>
        <p:spPr>
          <a:xfrm>
            <a:off x="800100" y="287655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8A4B00"/>
                </a:solidFill>
              </a:defRPr>
            </a:pPr>
            <a:r>
              <a:rPr sz="2175" b="1">
                <a:solidFill>
                  <a:srgbClr val="8A4B00"/>
                </a:solidFill>
              </a:rPr>
              <a:t>Большой промт</a:t>
            </a:r>
          </a:p>
        </p:txBody>
      </p:sp>
      <p:sp>
        <p:nvSpPr>
          <p:cNvPr id="10" name="phase-body-0">
            <a:extLst>
              <a:ext uri="{FF2B5EF4-FFF2-40B4-BE49-F238E27FC236}">
                <a16:creationId xmlns:a16="http://schemas.microsoft.com/office/drawing/2014/main" id="{9A7A0D92-E396-43D9-9659-CB9B0A9D60D7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2762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8A4B00"/>
                </a:solidFill>
              </a:defRPr>
            </a:pPr>
            <a:r>
              <a:rPr sz="1425" b="0">
                <a:solidFill>
                  <a:srgbClr val="8A4B00"/>
                </a:solidFill>
              </a:rPr>
              <a:t>Пользователь подробно описывает роль, шаги, формат и ограничения.</a:t>
            </a:r>
          </a:p>
        </p:txBody>
      </p:sp>
      <p:sp>
        <p:nvSpPr>
          <p:cNvPr id="11" name="phase-1">
            <a:extLst>
              <a:ext uri="{FF2B5EF4-FFF2-40B4-BE49-F238E27FC236}">
                <a16:creationId xmlns:a16="http://schemas.microsoft.com/office/drawing/2014/main" id="{4DA49795-761B-4BE8-950F-CC95CBC31741}"/>
              </a:ext>
            </a:extLst>
          </p:cNvPr>
          <p:cNvSpPr>
            <a:spLocks noGrp="1"/>
          </p:cNvSpPr>
          <p:nvPr/>
        </p:nvSpPr>
        <p:spPr>
          <a:xfrm>
            <a:off x="4381500" y="2038350"/>
            <a:ext cx="3333750" cy="266700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2" name="phase-num-1">
            <a:extLst>
              <a:ext uri="{FF2B5EF4-FFF2-40B4-BE49-F238E27FC236}">
                <a16:creationId xmlns:a16="http://schemas.microsoft.com/office/drawing/2014/main" id="{9C24B121-417C-4D24-B42A-6FDDA8869FDA}"/>
              </a:ext>
            </a:extLst>
          </p:cNvPr>
          <p:cNvSpPr>
            <a:spLocks noGrp="1"/>
          </p:cNvSpPr>
          <p:nvPr/>
        </p:nvSpPr>
        <p:spPr>
          <a:xfrm>
            <a:off x="4610100" y="228600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3" name="phase-title-1">
            <a:extLst>
              <a:ext uri="{FF2B5EF4-FFF2-40B4-BE49-F238E27FC236}">
                <a16:creationId xmlns:a16="http://schemas.microsoft.com/office/drawing/2014/main" id="{423DDD1A-6189-44B3-A0C3-2610F1D4B3C6}"/>
              </a:ext>
            </a:extLst>
          </p:cNvPr>
          <p:cNvSpPr>
            <a:spLocks noGrp="1"/>
          </p:cNvSpPr>
          <p:nvPr/>
        </p:nvSpPr>
        <p:spPr>
          <a:xfrm>
            <a:off x="4610100" y="287655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101828"/>
                </a:solidFill>
              </a:defRPr>
            </a:pPr>
            <a:r>
              <a:rPr sz="2175" b="1">
                <a:solidFill>
                  <a:srgbClr val="101828"/>
                </a:solidFill>
              </a:rPr>
              <a:t>Расширенный поиск</a:t>
            </a:r>
          </a:p>
        </p:txBody>
      </p:sp>
      <p:sp>
        <p:nvSpPr>
          <p:cNvPr id="14" name="phase-body-1">
            <a:extLst>
              <a:ext uri="{FF2B5EF4-FFF2-40B4-BE49-F238E27FC236}">
                <a16:creationId xmlns:a16="http://schemas.microsoft.com/office/drawing/2014/main" id="{68815F81-9E89-4C54-A2A0-BFD406A3607E}"/>
              </a:ext>
            </a:extLst>
          </p:cNvPr>
          <p:cNvSpPr>
            <a:spLocks noGrp="1"/>
          </p:cNvSpPr>
          <p:nvPr/>
        </p:nvSpPr>
        <p:spPr>
          <a:xfrm>
            <a:off x="4610100" y="3562350"/>
            <a:ext cx="2762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Модель быстро собирает, сравнивает и объясняет информацию из многих источников.</a:t>
            </a:r>
          </a:p>
        </p:txBody>
      </p:sp>
      <p:sp>
        <p:nvSpPr>
          <p:cNvPr id="15" name="phase-2">
            <a:extLst>
              <a:ext uri="{FF2B5EF4-FFF2-40B4-BE49-F238E27FC236}">
                <a16:creationId xmlns:a16="http://schemas.microsoft.com/office/drawing/2014/main" id="{50F11030-2972-42A2-B91F-94D041FB9E41}"/>
              </a:ext>
            </a:extLst>
          </p:cNvPr>
          <p:cNvSpPr>
            <a:spLocks noGrp="1"/>
          </p:cNvSpPr>
          <p:nvPr/>
        </p:nvSpPr>
        <p:spPr>
          <a:xfrm>
            <a:off x="8191500" y="2038350"/>
            <a:ext cx="3333750" cy="2667000"/>
          </a:xfrm>
          <a:prstGeom prst="roundRect">
            <a:avLst>
              <a:gd name="adj" fmla="val 4286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6" name="phase-num-2">
            <a:extLst>
              <a:ext uri="{FF2B5EF4-FFF2-40B4-BE49-F238E27FC236}">
                <a16:creationId xmlns:a16="http://schemas.microsoft.com/office/drawing/2014/main" id="{450FC1A5-2642-4ED4-BCF1-F82BC132C092}"/>
              </a:ext>
            </a:extLst>
          </p:cNvPr>
          <p:cNvSpPr>
            <a:spLocks noGrp="1"/>
          </p:cNvSpPr>
          <p:nvPr/>
        </p:nvSpPr>
        <p:spPr>
          <a:xfrm>
            <a:off x="8420100" y="228600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7" name="phase-title-2">
            <a:extLst>
              <a:ext uri="{FF2B5EF4-FFF2-40B4-BE49-F238E27FC236}">
                <a16:creationId xmlns:a16="http://schemas.microsoft.com/office/drawing/2014/main" id="{E299272B-8A06-477F-900F-666B019559FC}"/>
              </a:ext>
            </a:extLst>
          </p:cNvPr>
          <p:cNvSpPr>
            <a:spLocks noGrp="1"/>
          </p:cNvSpPr>
          <p:nvPr/>
        </p:nvSpPr>
        <p:spPr>
          <a:xfrm>
            <a:off x="8420100" y="287655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16335B"/>
                </a:solidFill>
              </a:defRPr>
            </a:pPr>
            <a:r>
              <a:rPr sz="2175" b="1">
                <a:solidFill>
                  <a:srgbClr val="16335B"/>
                </a:solidFill>
              </a:rPr>
              <a:t>Команда агентов</a:t>
            </a:r>
          </a:p>
        </p:txBody>
      </p:sp>
      <p:sp>
        <p:nvSpPr>
          <p:cNvPr id="18" name="phase-body-2">
            <a:extLst>
              <a:ext uri="{FF2B5EF4-FFF2-40B4-BE49-F238E27FC236}">
                <a16:creationId xmlns:a16="http://schemas.microsoft.com/office/drawing/2014/main" id="{623B2DA8-97F6-4DAC-A04E-0C64B4F41752}"/>
              </a:ext>
            </a:extLst>
          </p:cNvPr>
          <p:cNvSpPr>
            <a:spLocks noGrp="1"/>
          </p:cNvSpPr>
          <p:nvPr/>
        </p:nvSpPr>
        <p:spPr>
          <a:xfrm>
            <a:off x="8420100" y="3562350"/>
            <a:ext cx="2762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6335B"/>
                </a:solidFill>
              </a:defRPr>
            </a:pPr>
            <a:r>
              <a:rPr sz="1425" b="0" dirty="0" err="1">
                <a:solidFill>
                  <a:srgbClr val="16335B"/>
                </a:solidFill>
              </a:rPr>
              <a:t>Пользователь</a:t>
            </a:r>
            <a:r>
              <a:rPr sz="1425" b="0" dirty="0">
                <a:solidFill>
                  <a:srgbClr val="16335B"/>
                </a:solidFill>
              </a:rPr>
              <a:t> </a:t>
            </a:r>
            <a:r>
              <a:rPr sz="1425" b="0" dirty="0" err="1">
                <a:solidFill>
                  <a:srgbClr val="16335B"/>
                </a:solidFill>
              </a:rPr>
              <a:t>задаёт</a:t>
            </a:r>
            <a:r>
              <a:rPr sz="1425" b="0" dirty="0">
                <a:solidFill>
                  <a:srgbClr val="16335B"/>
                </a:solidFill>
              </a:rPr>
              <a:t> </a:t>
            </a:r>
            <a:r>
              <a:rPr sz="1425" b="0" dirty="0" err="1">
                <a:solidFill>
                  <a:srgbClr val="16335B"/>
                </a:solidFill>
              </a:rPr>
              <a:t>цель</a:t>
            </a:r>
            <a:r>
              <a:rPr sz="1425" b="0" dirty="0">
                <a:solidFill>
                  <a:srgbClr val="16335B"/>
                </a:solidFill>
              </a:rPr>
              <a:t>; Lead </a:t>
            </a:r>
            <a:r>
              <a:rPr sz="1425" b="0" dirty="0" err="1">
                <a:solidFill>
                  <a:srgbClr val="16335B"/>
                </a:solidFill>
              </a:rPr>
              <a:t>планирует</a:t>
            </a:r>
            <a:r>
              <a:rPr sz="1425" b="0" dirty="0">
                <a:solidFill>
                  <a:srgbClr val="16335B"/>
                </a:solidFill>
              </a:rPr>
              <a:t>, </a:t>
            </a:r>
            <a:r>
              <a:rPr sz="1425" b="0" dirty="0" err="1">
                <a:solidFill>
                  <a:srgbClr val="16335B"/>
                </a:solidFill>
              </a:rPr>
              <a:t>делегирует</a:t>
            </a:r>
            <a:r>
              <a:rPr sz="1425" b="0" dirty="0">
                <a:solidFill>
                  <a:srgbClr val="16335B"/>
                </a:solidFill>
              </a:rPr>
              <a:t>, </a:t>
            </a:r>
            <a:r>
              <a:rPr sz="1425" b="0" dirty="0" err="1">
                <a:solidFill>
                  <a:srgbClr val="16335B"/>
                </a:solidFill>
              </a:rPr>
              <a:t>собирает</a:t>
            </a:r>
            <a:r>
              <a:rPr sz="1425" b="0" dirty="0">
                <a:solidFill>
                  <a:srgbClr val="16335B"/>
                </a:solidFill>
              </a:rPr>
              <a:t> </a:t>
            </a:r>
            <a:r>
              <a:rPr sz="1425" b="0" dirty="0" err="1">
                <a:solidFill>
                  <a:srgbClr val="16335B"/>
                </a:solidFill>
              </a:rPr>
              <a:t>результат</a:t>
            </a:r>
            <a:r>
              <a:rPr sz="1425" b="0" dirty="0">
                <a:solidFill>
                  <a:srgbClr val="16335B"/>
                </a:solidFill>
              </a:rPr>
              <a:t> и </a:t>
            </a:r>
            <a:r>
              <a:rPr sz="1425" b="0" dirty="0" err="1">
                <a:solidFill>
                  <a:srgbClr val="16335B"/>
                </a:solidFill>
              </a:rPr>
              <a:t>эскалирует</a:t>
            </a:r>
            <a:r>
              <a:rPr sz="1425" b="0" dirty="0">
                <a:solidFill>
                  <a:srgbClr val="16335B"/>
                </a:solidFill>
              </a:rPr>
              <a:t>.</a:t>
            </a:r>
          </a:p>
        </p:txBody>
      </p:sp>
      <p:sp>
        <p:nvSpPr>
          <p:cNvPr id="19" name="conclusion">
            <a:extLst>
              <a:ext uri="{FF2B5EF4-FFF2-40B4-BE49-F238E27FC236}">
                <a16:creationId xmlns:a16="http://schemas.microsoft.com/office/drawing/2014/main" id="{3AEE44CE-F98F-4336-9B05-C2FEA251D01A}"/>
              </a:ext>
            </a:extLst>
          </p:cNvPr>
          <p:cNvSpPr>
            <a:spLocks noGrp="1"/>
          </p:cNvSpPr>
          <p:nvPr/>
        </p:nvSpPr>
        <p:spPr>
          <a:xfrm>
            <a:off x="1047750" y="54102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16335B"/>
                </a:solidFill>
              </a:defRPr>
            </a:pPr>
            <a:r>
              <a:rPr sz="1875" b="1">
                <a:solidFill>
                  <a:srgbClr val="16335B"/>
                </a:solidFill>
              </a:rPr>
              <a:t>Сдвиг: от управления каждым словом — к управлению целью, контекстом и условиями приёмки.</a:t>
            </a:r>
          </a:p>
        </p:txBody>
      </p:sp>
    </p:spTree>
    <p:extLst>
      <p:ext uri="{BB962C8B-B14F-4D97-AF65-F5344CB8AC3E}">
        <p14:creationId xmlns:p14="http://schemas.microsoft.com/office/powerpoint/2010/main" val="1250659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-rule-3">
            <a:extLst>
              <a:ext uri="{FF2B5EF4-FFF2-40B4-BE49-F238E27FC236}">
                <a16:creationId xmlns:a16="http://schemas.microsoft.com/office/drawing/2014/main" id="{E8E862F1-2123-4C3A-97BB-DCB871C7F1C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label-3">
            <a:extLst>
              <a:ext uri="{FF2B5EF4-FFF2-40B4-BE49-F238E27FC236}">
                <a16:creationId xmlns:a16="http://schemas.microsoft.com/office/drawing/2014/main" id="{6944162D-BC6C-4DB5-B388-4D7A35A2AAD8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От промтов к команде ИИ</a:t>
            </a:r>
          </a:p>
        </p:txBody>
      </p:sp>
      <p:sp>
        <p:nvSpPr>
          <p:cNvPr id="3" name="footer-number-3">
            <a:extLst>
              <a:ext uri="{FF2B5EF4-FFF2-40B4-BE49-F238E27FC236}">
                <a16:creationId xmlns:a16="http://schemas.microsoft.com/office/drawing/2014/main" id="{D258736A-EF68-4038-A60E-CE95F3292194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3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0356218-34EA-4BF2-ADF4-6D1C57780D6D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049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Новая роль пользователя: не писать код, а вести работу как Scrum Master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CDD0D55D-8931-41E4-B81A-967BA763A14B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Вы сохраняете ответственность за цель, приоритеты и качество результата. Техническую работу ведёт Lead-модель и её команда.</a:t>
            </a:r>
          </a:p>
        </p:txBody>
      </p:sp>
      <p:sp>
        <p:nvSpPr>
          <p:cNvPr id="6" name="connector-1">
            <a:extLst>
              <a:ext uri="{FF2B5EF4-FFF2-40B4-BE49-F238E27FC236}">
                <a16:creationId xmlns:a16="http://schemas.microsoft.com/office/drawing/2014/main" id="{04CA5499-B0D8-4D4C-8773-A45D16609203}"/>
              </a:ext>
            </a:extLst>
          </p:cNvPr>
          <p:cNvSpPr>
            <a:spLocks noGrp="1"/>
          </p:cNvSpPr>
          <p:nvPr/>
        </p:nvSpPr>
        <p:spPr>
          <a:xfrm>
            <a:off x="2876550" y="3695700"/>
            <a:ext cx="2228850" cy="0"/>
          </a:xfrm>
          <a:prstGeom prst="line">
            <a:avLst/>
          </a:prstGeom>
          <a:noFill/>
          <a:ln w="28575">
            <a:solidFill>
              <a:srgbClr val="D0D5DD"/>
            </a:solidFill>
            <a:prstDash val="solid"/>
          </a:ln>
        </p:spPr>
      </p:sp>
      <p:sp>
        <p:nvSpPr>
          <p:cNvPr id="7" name="connector-2">
            <a:extLst>
              <a:ext uri="{FF2B5EF4-FFF2-40B4-BE49-F238E27FC236}">
                <a16:creationId xmlns:a16="http://schemas.microsoft.com/office/drawing/2014/main" id="{878E2DEF-2943-4996-89F6-B35A239E846C}"/>
              </a:ext>
            </a:extLst>
          </p:cNvPr>
          <p:cNvSpPr>
            <a:spLocks noGrp="1"/>
          </p:cNvSpPr>
          <p:nvPr/>
        </p:nvSpPr>
        <p:spPr>
          <a:xfrm flipV="1">
            <a:off x="7181850" y="2876550"/>
            <a:ext cx="2228850" cy="819150"/>
          </a:xfrm>
          <a:prstGeom prst="line">
            <a:avLst/>
          </a:prstGeom>
          <a:noFill/>
          <a:ln w="28575">
            <a:solidFill>
              <a:srgbClr val="D0D5DD"/>
            </a:solidFill>
            <a:prstDash val="solid"/>
          </a:ln>
        </p:spPr>
      </p:sp>
      <p:sp>
        <p:nvSpPr>
          <p:cNvPr id="8" name="connector-3">
            <a:extLst>
              <a:ext uri="{FF2B5EF4-FFF2-40B4-BE49-F238E27FC236}">
                <a16:creationId xmlns:a16="http://schemas.microsoft.com/office/drawing/2014/main" id="{2EE9F08A-D54A-4F8C-9419-99A95A5FF35D}"/>
              </a:ext>
            </a:extLst>
          </p:cNvPr>
          <p:cNvSpPr>
            <a:spLocks noGrp="1"/>
          </p:cNvSpPr>
          <p:nvPr/>
        </p:nvSpPr>
        <p:spPr>
          <a:xfrm>
            <a:off x="7105650" y="3695700"/>
            <a:ext cx="2228850" cy="800100"/>
          </a:xfrm>
          <a:prstGeom prst="line">
            <a:avLst/>
          </a:prstGeom>
          <a:noFill/>
          <a:ln w="28575">
            <a:solidFill>
              <a:srgbClr val="D0D5DD"/>
            </a:solidFill>
            <a:prstDash val="solid"/>
          </a:ln>
        </p:spPr>
      </p:sp>
      <p:sp>
        <p:nvSpPr>
          <p:cNvPr id="9" name="user">
            <a:extLst>
              <a:ext uri="{FF2B5EF4-FFF2-40B4-BE49-F238E27FC236}">
                <a16:creationId xmlns:a16="http://schemas.microsoft.com/office/drawing/2014/main" id="{4402DD53-7B0B-454A-B921-12E024099475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2209800" cy="1847850"/>
          </a:xfrm>
          <a:prstGeom prst="roundRect">
            <a:avLst>
              <a:gd name="adj" fmla="val 6186"/>
            </a:avLst>
          </a:prstGeom>
          <a:solidFill>
            <a:srgbClr val="16335B"/>
          </a:solidFill>
          <a:ln w="9525">
            <a:solidFill>
              <a:srgbClr val="16335B"/>
            </a:solidFill>
            <a:prstDash val="solid"/>
          </a:ln>
        </p:spPr>
      </p:sp>
      <p:sp>
        <p:nvSpPr>
          <p:cNvPr id="10" name="user-title">
            <a:extLst>
              <a:ext uri="{FF2B5EF4-FFF2-40B4-BE49-F238E27FC236}">
                <a16:creationId xmlns:a16="http://schemas.microsoft.com/office/drawing/2014/main" id="{9993D3A7-F18A-4F1C-9495-3716357CF05F}"/>
              </a:ext>
            </a:extLst>
          </p:cNvPr>
          <p:cNvSpPr>
            <a:spLocks noGrp="1"/>
          </p:cNvSpPr>
          <p:nvPr/>
        </p:nvSpPr>
        <p:spPr>
          <a:xfrm>
            <a:off x="933450" y="3067050"/>
            <a:ext cx="167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Вы</a:t>
            </a:r>
          </a:p>
        </p:txBody>
      </p:sp>
      <p:sp>
        <p:nvSpPr>
          <p:cNvPr id="11" name="user-body">
            <a:extLst>
              <a:ext uri="{FF2B5EF4-FFF2-40B4-BE49-F238E27FC236}">
                <a16:creationId xmlns:a16="http://schemas.microsoft.com/office/drawing/2014/main" id="{5561E88E-2158-4EEA-AAD7-7C2575A515E7}"/>
              </a:ext>
            </a:extLst>
          </p:cNvPr>
          <p:cNvSpPr>
            <a:spLocks noGrp="1"/>
          </p:cNvSpPr>
          <p:nvPr/>
        </p:nvSpPr>
        <p:spPr>
          <a:xfrm>
            <a:off x="952500" y="3657600"/>
            <a:ext cx="16383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Цель</a:t>
            </a:r>
          </a:p>
          <a:p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Приоритет</a:t>
            </a:r>
          </a:p>
          <a:p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Гейты приёмки</a:t>
            </a:r>
          </a:p>
        </p:txBody>
      </p:sp>
      <p:sp>
        <p:nvSpPr>
          <p:cNvPr id="12" name="lead">
            <a:extLst>
              <a:ext uri="{FF2B5EF4-FFF2-40B4-BE49-F238E27FC236}">
                <a16:creationId xmlns:a16="http://schemas.microsoft.com/office/drawing/2014/main" id="{F4429F0D-84C2-4578-99C6-37ECA853725C}"/>
              </a:ext>
            </a:extLst>
          </p:cNvPr>
          <p:cNvSpPr>
            <a:spLocks noGrp="1"/>
          </p:cNvSpPr>
          <p:nvPr/>
        </p:nvSpPr>
        <p:spPr>
          <a:xfrm>
            <a:off x="5105400" y="2514600"/>
            <a:ext cx="2000250" cy="2343150"/>
          </a:xfrm>
          <a:prstGeom prst="roundRect">
            <a:avLst>
              <a:gd name="adj" fmla="val 5714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3" name="lead-title">
            <a:extLst>
              <a:ext uri="{FF2B5EF4-FFF2-40B4-BE49-F238E27FC236}">
                <a16:creationId xmlns:a16="http://schemas.microsoft.com/office/drawing/2014/main" id="{A1E56049-79FA-4B19-A689-D0862C7DCB94}"/>
              </a:ext>
            </a:extLst>
          </p:cNvPr>
          <p:cNvSpPr>
            <a:spLocks noGrp="1"/>
          </p:cNvSpPr>
          <p:nvPr/>
        </p:nvSpPr>
        <p:spPr>
          <a:xfrm>
            <a:off x="5410200" y="2876550"/>
            <a:ext cx="1390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16335B"/>
                </a:solidFill>
              </a:defRPr>
            </a:pPr>
            <a:r>
              <a:rPr sz="2325" b="1">
                <a:solidFill>
                  <a:srgbClr val="16335B"/>
                </a:solidFill>
              </a:rPr>
              <a:t>Lead</a:t>
            </a:r>
          </a:p>
        </p:txBody>
      </p:sp>
      <p:sp>
        <p:nvSpPr>
          <p:cNvPr id="14" name="lead-body">
            <a:extLst>
              <a:ext uri="{FF2B5EF4-FFF2-40B4-BE49-F238E27FC236}">
                <a16:creationId xmlns:a16="http://schemas.microsoft.com/office/drawing/2014/main" id="{96D299D5-0FBA-49C5-9C2E-AFAA2B9ECC1C}"/>
              </a:ext>
            </a:extLst>
          </p:cNvPr>
          <p:cNvSpPr>
            <a:spLocks noGrp="1"/>
          </p:cNvSpPr>
          <p:nvPr/>
        </p:nvSpPr>
        <p:spPr>
          <a:xfrm>
            <a:off x="5391150" y="3524250"/>
            <a:ext cx="1428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16335B"/>
                </a:solidFill>
              </a:defRPr>
            </a:pPr>
            <a:r>
              <a:rPr sz="1500" b="0">
                <a:solidFill>
                  <a:srgbClr val="16335B"/>
                </a:solidFill>
              </a:rPr>
              <a:t>Понимает задачу</a:t>
            </a:r>
          </a:p>
          <a:p>
            <a:pPr algn="ctr">
              <a:defRPr sz="1500" b="0">
                <a:solidFill>
                  <a:srgbClr val="16335B"/>
                </a:solidFill>
              </a:defRPr>
            </a:pPr>
            <a:r>
              <a:rPr sz="1500" b="0">
                <a:solidFill>
                  <a:srgbClr val="16335B"/>
                </a:solidFill>
              </a:rPr>
              <a:t>Планирует</a:t>
            </a:r>
          </a:p>
          <a:p>
            <a:pPr algn="ctr">
              <a:defRPr sz="1500" b="0">
                <a:solidFill>
                  <a:srgbClr val="16335B"/>
                </a:solidFill>
              </a:defRPr>
            </a:pPr>
            <a:r>
              <a:rPr sz="1500" b="0">
                <a:solidFill>
                  <a:srgbClr val="16335B"/>
                </a:solidFill>
              </a:rPr>
              <a:t>Делегирует</a:t>
            </a:r>
          </a:p>
          <a:p>
            <a:pPr algn="ctr">
              <a:defRPr sz="1500" b="0">
                <a:solidFill>
                  <a:srgbClr val="16335B"/>
                </a:solidFill>
              </a:defRPr>
            </a:pPr>
            <a:r>
              <a:rPr sz="1500" b="0">
                <a:solidFill>
                  <a:srgbClr val="16335B"/>
                </a:solidFill>
              </a:rPr>
              <a:t>Собирает итог</a:t>
            </a:r>
          </a:p>
        </p:txBody>
      </p:sp>
      <p:sp>
        <p:nvSpPr>
          <p:cNvPr id="15" name="team-1">
            <a:extLst>
              <a:ext uri="{FF2B5EF4-FFF2-40B4-BE49-F238E27FC236}">
                <a16:creationId xmlns:a16="http://schemas.microsoft.com/office/drawing/2014/main" id="{46F7D6FF-02BD-49B6-899D-B97C0DD04797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2152650" cy="1543050"/>
          </a:xfrm>
          <a:prstGeom prst="roundRect">
            <a:avLst>
              <a:gd name="adj" fmla="val 7407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6" name="team-1-title">
            <a:extLst>
              <a:ext uri="{FF2B5EF4-FFF2-40B4-BE49-F238E27FC236}">
                <a16:creationId xmlns:a16="http://schemas.microsoft.com/office/drawing/2014/main" id="{A874591A-B556-49CD-90F5-3218A0F6FDAE}"/>
              </a:ext>
            </a:extLst>
          </p:cNvPr>
          <p:cNvSpPr>
            <a:spLocks noGrp="1"/>
          </p:cNvSpPr>
          <p:nvPr/>
        </p:nvSpPr>
        <p:spPr>
          <a:xfrm>
            <a:off x="9601200" y="2381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Команда</a:t>
            </a:r>
          </a:p>
        </p:txBody>
      </p:sp>
      <p:sp>
        <p:nvSpPr>
          <p:cNvPr id="17" name="team-1-body">
            <a:extLst>
              <a:ext uri="{FF2B5EF4-FFF2-40B4-BE49-F238E27FC236}">
                <a16:creationId xmlns:a16="http://schemas.microsoft.com/office/drawing/2014/main" id="{D3A40A89-802C-4778-869A-32E009F9114A}"/>
              </a:ext>
            </a:extLst>
          </p:cNvPr>
          <p:cNvSpPr>
            <a:spLocks noGrp="1"/>
          </p:cNvSpPr>
          <p:nvPr/>
        </p:nvSpPr>
        <p:spPr>
          <a:xfrm>
            <a:off x="9601200" y="2854257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75467"/>
                </a:solidFill>
              </a:defRPr>
            </a:pPr>
            <a:r>
              <a:rPr sz="1500" b="0" dirty="0" err="1">
                <a:solidFill>
                  <a:srgbClr val="475467"/>
                </a:solidFill>
              </a:rPr>
              <a:t>Разведка</a:t>
            </a:r>
            <a:endParaRPr sz="1500" b="0" dirty="0">
              <a:solidFill>
                <a:srgbClr val="475467"/>
              </a:solidFill>
            </a:endParaRPr>
          </a:p>
          <a:p>
            <a:pPr algn="l">
              <a:defRPr sz="1500" b="0">
                <a:solidFill>
                  <a:srgbClr val="475467"/>
                </a:solidFill>
              </a:defRPr>
            </a:pPr>
            <a:r>
              <a:rPr sz="1500" b="0" dirty="0" err="1">
                <a:solidFill>
                  <a:srgbClr val="475467"/>
                </a:solidFill>
              </a:rPr>
              <a:t>Реализация</a:t>
            </a:r>
            <a:endParaRPr sz="1500" b="0" dirty="0">
              <a:solidFill>
                <a:srgbClr val="475467"/>
              </a:solidFill>
            </a:endParaRPr>
          </a:p>
        </p:txBody>
      </p:sp>
      <p:sp>
        <p:nvSpPr>
          <p:cNvPr id="18" name="team-2">
            <a:extLst>
              <a:ext uri="{FF2B5EF4-FFF2-40B4-BE49-F238E27FC236}">
                <a16:creationId xmlns:a16="http://schemas.microsoft.com/office/drawing/2014/main" id="{9CC49C6F-81E7-46F9-9D72-CF59B9FB88B8}"/>
              </a:ext>
            </a:extLst>
          </p:cNvPr>
          <p:cNvSpPr>
            <a:spLocks noGrp="1"/>
          </p:cNvSpPr>
          <p:nvPr/>
        </p:nvSpPr>
        <p:spPr>
          <a:xfrm>
            <a:off x="9334500" y="3924300"/>
            <a:ext cx="2152650" cy="1543050"/>
          </a:xfrm>
          <a:prstGeom prst="roundRect">
            <a:avLst>
              <a:gd name="adj" fmla="val 7407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9" name="team-2-title">
            <a:extLst>
              <a:ext uri="{FF2B5EF4-FFF2-40B4-BE49-F238E27FC236}">
                <a16:creationId xmlns:a16="http://schemas.microsoft.com/office/drawing/2014/main" id="{C53CECCF-B11E-49A5-B6EB-8A3C4078597A}"/>
              </a:ext>
            </a:extLst>
          </p:cNvPr>
          <p:cNvSpPr>
            <a:spLocks noGrp="1"/>
          </p:cNvSpPr>
          <p:nvPr/>
        </p:nvSpPr>
        <p:spPr>
          <a:xfrm>
            <a:off x="9601200" y="4171950"/>
            <a:ext cx="1638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Независимый контур</a:t>
            </a:r>
          </a:p>
        </p:txBody>
      </p:sp>
      <p:sp>
        <p:nvSpPr>
          <p:cNvPr id="20" name="team-2-body">
            <a:extLst>
              <a:ext uri="{FF2B5EF4-FFF2-40B4-BE49-F238E27FC236}">
                <a16:creationId xmlns:a16="http://schemas.microsoft.com/office/drawing/2014/main" id="{FEC6B246-D750-4C9E-8FC2-93838D08A3FF}"/>
              </a:ext>
            </a:extLst>
          </p:cNvPr>
          <p:cNvSpPr>
            <a:spLocks noGrp="1"/>
          </p:cNvSpPr>
          <p:nvPr/>
        </p:nvSpPr>
        <p:spPr>
          <a:xfrm>
            <a:off x="9639300" y="4752974"/>
            <a:ext cx="1638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475467"/>
                </a:solidFill>
              </a:defRPr>
            </a:pPr>
            <a:r>
              <a:rPr sz="1200" b="0" dirty="0" err="1">
                <a:solidFill>
                  <a:srgbClr val="475467"/>
                </a:solidFill>
              </a:rPr>
              <a:t>Критика</a:t>
            </a:r>
            <a:endParaRPr sz="1200" b="0" dirty="0">
              <a:solidFill>
                <a:srgbClr val="475467"/>
              </a:solidFill>
            </a:endParaRPr>
          </a:p>
          <a:p>
            <a:pPr algn="l">
              <a:defRPr sz="1200" b="0">
                <a:solidFill>
                  <a:srgbClr val="475467"/>
                </a:solidFill>
              </a:defRPr>
            </a:pPr>
            <a:r>
              <a:rPr sz="1200" b="0" dirty="0" err="1">
                <a:solidFill>
                  <a:srgbClr val="475467"/>
                </a:solidFill>
              </a:rPr>
              <a:t>Проверка</a:t>
            </a:r>
            <a:endParaRPr sz="1200" b="0" dirty="0">
              <a:solidFill>
                <a:srgbClr val="475467"/>
              </a:solidFill>
            </a:endParaRPr>
          </a:p>
          <a:p>
            <a:pPr algn="l">
              <a:defRPr sz="1200" b="0">
                <a:solidFill>
                  <a:srgbClr val="475467"/>
                </a:solidFill>
              </a:defRPr>
            </a:pPr>
            <a:r>
              <a:rPr sz="1200" b="0" dirty="0" err="1">
                <a:solidFill>
                  <a:srgbClr val="475467"/>
                </a:solidFill>
              </a:rPr>
              <a:t>доказательств</a:t>
            </a:r>
            <a:endParaRPr sz="1200" b="0" dirty="0">
              <a:solidFill>
                <a:srgbClr val="475467"/>
              </a:solidFill>
            </a:endParaRPr>
          </a:p>
        </p:txBody>
      </p:sp>
      <p:sp>
        <p:nvSpPr>
          <p:cNvPr id="21" name="conclusion">
            <a:extLst>
              <a:ext uri="{FF2B5EF4-FFF2-40B4-BE49-F238E27FC236}">
                <a16:creationId xmlns:a16="http://schemas.microsoft.com/office/drawing/2014/main" id="{FB4B18A6-67BC-428D-842F-6A00318D79D1}"/>
              </a:ext>
            </a:extLst>
          </p:cNvPr>
          <p:cNvSpPr>
            <a:spLocks noGrp="1"/>
          </p:cNvSpPr>
          <p:nvPr/>
        </p:nvSpPr>
        <p:spPr>
          <a:xfrm>
            <a:off x="990600" y="5715000"/>
            <a:ext cx="1019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6335B"/>
                </a:solidFill>
              </a:defRPr>
            </a:pPr>
            <a:r>
              <a:rPr sz="1650" b="1">
                <a:solidFill>
                  <a:srgbClr val="16335B"/>
                </a:solidFill>
              </a:rPr>
              <a:t>Доверие к технической экспертизе не отменяет контроля: вы принимаете не «красивый ответ», а выполненные гейты.</a:t>
            </a:r>
          </a:p>
        </p:txBody>
      </p:sp>
    </p:spTree>
    <p:extLst>
      <p:ext uri="{BB962C8B-B14F-4D97-AF65-F5344CB8AC3E}">
        <p14:creationId xmlns:p14="http://schemas.microsoft.com/office/powerpoint/2010/main" val="179484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62F9CD-4C63-478F-6DF6-5DB9591C8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-rule-3">
            <a:extLst>
              <a:ext uri="{FF2B5EF4-FFF2-40B4-BE49-F238E27FC236}">
                <a16:creationId xmlns:a16="http://schemas.microsoft.com/office/drawing/2014/main" id="{140FBA2E-56B5-B854-B0A0-70D4A6079C15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label-3">
            <a:extLst>
              <a:ext uri="{FF2B5EF4-FFF2-40B4-BE49-F238E27FC236}">
                <a16:creationId xmlns:a16="http://schemas.microsoft.com/office/drawing/2014/main" id="{0CBE94F5-EAA8-C76F-05A5-54A6A74E5C08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От промтов к команде ИИ</a:t>
            </a:r>
          </a:p>
        </p:txBody>
      </p:sp>
      <p:sp>
        <p:nvSpPr>
          <p:cNvPr id="3" name="footer-number-3">
            <a:extLst>
              <a:ext uri="{FF2B5EF4-FFF2-40B4-BE49-F238E27FC236}">
                <a16:creationId xmlns:a16="http://schemas.microsoft.com/office/drawing/2014/main" id="{AD618CED-3720-EA1D-8692-3583DB102C45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3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F3A12BB-0A42-4E3B-B2DF-7710AAAA56FA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/>
            <a:r>
              <a:rPr lang="ru-RU" sz="3200" b="1" dirty="0"/>
              <a:t>Одна команда → фабрика агентов</a:t>
            </a:r>
            <a:endParaRPr lang="ru-RU" sz="3200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96DB993-119E-BC79-8A15-7DA5F100CB96}"/>
              </a:ext>
            </a:extLst>
          </p:cNvPr>
          <p:cNvSpPr>
            <a:spLocks noGrp="1"/>
          </p:cNvSpPr>
          <p:nvPr/>
        </p:nvSpPr>
        <p:spPr>
          <a:xfrm>
            <a:off x="514350" y="1203393"/>
            <a:ext cx="10668000" cy="8159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ru-RU" sz="1600" dirty="0"/>
              <a:t>Раньше одна команда означала один ответ одной модели. Теперь она может запускать целый рабочий процесс: фабрику. И даже работать автономно как готовая команда специалистов: </a:t>
            </a:r>
            <a:r>
              <a:rPr lang="ru-RU" sz="1600" dirty="0" err="1"/>
              <a:t>дарк</a:t>
            </a:r>
            <a:r>
              <a:rPr lang="ru-RU" sz="1600" dirty="0"/>
              <a:t> </a:t>
            </a:r>
            <a:r>
              <a:rPr lang="ru-RU" sz="1600" dirty="0" err="1"/>
              <a:t>фактори</a:t>
            </a:r>
            <a:endParaRPr lang="ru-RU" sz="1600" dirty="0"/>
          </a:p>
        </p:txBody>
      </p:sp>
      <p:sp>
        <p:nvSpPr>
          <p:cNvPr id="6" name="connector-1">
            <a:extLst>
              <a:ext uri="{FF2B5EF4-FFF2-40B4-BE49-F238E27FC236}">
                <a16:creationId xmlns:a16="http://schemas.microsoft.com/office/drawing/2014/main" id="{81A21305-F7AA-91E0-5D82-EFFAD35AC333}"/>
              </a:ext>
            </a:extLst>
          </p:cNvPr>
          <p:cNvSpPr>
            <a:spLocks noGrp="1"/>
          </p:cNvSpPr>
          <p:nvPr/>
        </p:nvSpPr>
        <p:spPr>
          <a:xfrm>
            <a:off x="2876550" y="3695700"/>
            <a:ext cx="2228850" cy="0"/>
          </a:xfrm>
          <a:prstGeom prst="line">
            <a:avLst/>
          </a:prstGeom>
          <a:noFill/>
          <a:ln w="28575">
            <a:solidFill>
              <a:srgbClr val="D0D5DD"/>
            </a:solidFill>
            <a:prstDash val="solid"/>
          </a:ln>
        </p:spPr>
      </p:sp>
      <p:sp>
        <p:nvSpPr>
          <p:cNvPr id="8" name="connector-3">
            <a:extLst>
              <a:ext uri="{FF2B5EF4-FFF2-40B4-BE49-F238E27FC236}">
                <a16:creationId xmlns:a16="http://schemas.microsoft.com/office/drawing/2014/main" id="{6080A485-CFAD-DA04-4BAD-2B3C8C7BE69C}"/>
              </a:ext>
            </a:extLst>
          </p:cNvPr>
          <p:cNvSpPr>
            <a:spLocks noGrp="1"/>
          </p:cNvSpPr>
          <p:nvPr/>
        </p:nvSpPr>
        <p:spPr>
          <a:xfrm>
            <a:off x="6828006" y="3657600"/>
            <a:ext cx="2131168" cy="38100"/>
          </a:xfrm>
          <a:prstGeom prst="line">
            <a:avLst/>
          </a:prstGeom>
          <a:noFill/>
          <a:ln w="28575">
            <a:solidFill>
              <a:srgbClr val="D0D5DD"/>
            </a:solidFill>
            <a:prstDash val="solid"/>
          </a:ln>
        </p:spPr>
      </p:sp>
      <p:sp>
        <p:nvSpPr>
          <p:cNvPr id="9" name="user">
            <a:extLst>
              <a:ext uri="{FF2B5EF4-FFF2-40B4-BE49-F238E27FC236}">
                <a16:creationId xmlns:a16="http://schemas.microsoft.com/office/drawing/2014/main" id="{BE253B74-EA24-C6CD-EE77-4665BD6962EF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2209800" cy="1847850"/>
          </a:xfrm>
          <a:prstGeom prst="roundRect">
            <a:avLst>
              <a:gd name="adj" fmla="val 6186"/>
            </a:avLst>
          </a:prstGeom>
          <a:solidFill>
            <a:srgbClr val="16335B"/>
          </a:solidFill>
          <a:ln w="9525">
            <a:solidFill>
              <a:srgbClr val="16335B"/>
            </a:solidFill>
            <a:prstDash val="solid"/>
          </a:ln>
        </p:spPr>
      </p:sp>
      <p:sp>
        <p:nvSpPr>
          <p:cNvPr id="10" name="user-title">
            <a:extLst>
              <a:ext uri="{FF2B5EF4-FFF2-40B4-BE49-F238E27FC236}">
                <a16:creationId xmlns:a16="http://schemas.microsoft.com/office/drawing/2014/main" id="{21DA304D-371A-DF59-0039-06755FC2830B}"/>
              </a:ext>
            </a:extLst>
          </p:cNvPr>
          <p:cNvSpPr>
            <a:spLocks noGrp="1"/>
          </p:cNvSpPr>
          <p:nvPr/>
        </p:nvSpPr>
        <p:spPr>
          <a:xfrm>
            <a:off x="933450" y="3067050"/>
            <a:ext cx="167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Вы</a:t>
            </a:r>
          </a:p>
        </p:txBody>
      </p:sp>
      <p:sp>
        <p:nvSpPr>
          <p:cNvPr id="11" name="user-body">
            <a:extLst>
              <a:ext uri="{FF2B5EF4-FFF2-40B4-BE49-F238E27FC236}">
                <a16:creationId xmlns:a16="http://schemas.microsoft.com/office/drawing/2014/main" id="{3FD723B3-B44D-8026-7997-893C04BD52E6}"/>
              </a:ext>
            </a:extLst>
          </p:cNvPr>
          <p:cNvSpPr>
            <a:spLocks noGrp="1"/>
          </p:cNvSpPr>
          <p:nvPr/>
        </p:nvSpPr>
        <p:spPr>
          <a:xfrm>
            <a:off x="952500" y="3657600"/>
            <a:ext cx="16383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Цель</a:t>
            </a:r>
          </a:p>
          <a:p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Приоритет</a:t>
            </a:r>
          </a:p>
          <a:p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Гейты приёмки</a:t>
            </a:r>
          </a:p>
        </p:txBody>
      </p:sp>
      <p:sp>
        <p:nvSpPr>
          <p:cNvPr id="12" name="lead">
            <a:extLst>
              <a:ext uri="{FF2B5EF4-FFF2-40B4-BE49-F238E27FC236}">
                <a16:creationId xmlns:a16="http://schemas.microsoft.com/office/drawing/2014/main" id="{F0E32725-05A0-8066-BB8F-F17E579E20D9}"/>
              </a:ext>
            </a:extLst>
          </p:cNvPr>
          <p:cNvSpPr>
            <a:spLocks noGrp="1"/>
          </p:cNvSpPr>
          <p:nvPr/>
        </p:nvSpPr>
        <p:spPr>
          <a:xfrm>
            <a:off x="4463374" y="2762250"/>
            <a:ext cx="2356526" cy="1847848"/>
          </a:xfrm>
          <a:prstGeom prst="roundRect">
            <a:avLst>
              <a:gd name="adj" fmla="val 5714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3" name="lead-title">
            <a:extLst>
              <a:ext uri="{FF2B5EF4-FFF2-40B4-BE49-F238E27FC236}">
                <a16:creationId xmlns:a16="http://schemas.microsoft.com/office/drawing/2014/main" id="{ECB0A50E-FDE7-22D6-182B-70FC85AE843F}"/>
              </a:ext>
            </a:extLst>
          </p:cNvPr>
          <p:cNvSpPr>
            <a:spLocks noGrp="1"/>
          </p:cNvSpPr>
          <p:nvPr/>
        </p:nvSpPr>
        <p:spPr>
          <a:xfrm>
            <a:off x="4455268" y="2876550"/>
            <a:ext cx="234558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16335B"/>
                </a:solidFill>
              </a:defRPr>
            </a:pPr>
            <a:r>
              <a:rPr lang="ru-RU" sz="2325" b="1" dirty="0">
                <a:solidFill>
                  <a:srgbClr val="16335B"/>
                </a:solidFill>
              </a:rPr>
              <a:t>Оркестратор</a:t>
            </a:r>
            <a:endParaRPr sz="2325" b="1" dirty="0">
              <a:solidFill>
                <a:srgbClr val="16335B"/>
              </a:solidFill>
            </a:endParaRPr>
          </a:p>
        </p:txBody>
      </p:sp>
      <p:sp>
        <p:nvSpPr>
          <p:cNvPr id="14" name="lead-body">
            <a:extLst>
              <a:ext uri="{FF2B5EF4-FFF2-40B4-BE49-F238E27FC236}">
                <a16:creationId xmlns:a16="http://schemas.microsoft.com/office/drawing/2014/main" id="{8978F493-BE5A-29C7-E554-A2FEA69C4961}"/>
              </a:ext>
            </a:extLst>
          </p:cNvPr>
          <p:cNvSpPr>
            <a:spLocks noGrp="1"/>
          </p:cNvSpPr>
          <p:nvPr/>
        </p:nvSpPr>
        <p:spPr>
          <a:xfrm>
            <a:off x="4455268" y="3524250"/>
            <a:ext cx="2364632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16335B"/>
                </a:solidFill>
              </a:defRPr>
            </a:pPr>
            <a:r>
              <a:rPr lang="ru-RU" sz="1500" b="0" dirty="0">
                <a:solidFill>
                  <a:srgbClr val="16335B"/>
                </a:solidFill>
              </a:rPr>
              <a:t>Принимает</a:t>
            </a:r>
            <a:r>
              <a:rPr sz="1500" b="0" dirty="0">
                <a:solidFill>
                  <a:srgbClr val="16335B"/>
                </a:solidFill>
              </a:rPr>
              <a:t> </a:t>
            </a:r>
            <a:r>
              <a:rPr sz="1500" b="0" dirty="0" err="1">
                <a:solidFill>
                  <a:srgbClr val="16335B"/>
                </a:solidFill>
              </a:rPr>
              <a:t>задачу</a:t>
            </a:r>
            <a:endParaRPr sz="1500" b="0" dirty="0">
              <a:solidFill>
                <a:srgbClr val="16335B"/>
              </a:solidFill>
            </a:endParaRPr>
          </a:p>
          <a:p>
            <a:pPr algn="ctr">
              <a:defRPr sz="1500" b="0">
                <a:solidFill>
                  <a:srgbClr val="16335B"/>
                </a:solidFill>
              </a:defRPr>
            </a:pPr>
            <a:r>
              <a:rPr lang="ru-RU" sz="1500" b="0" dirty="0">
                <a:solidFill>
                  <a:srgbClr val="16335B"/>
                </a:solidFill>
              </a:rPr>
              <a:t>Переключает по стадиям</a:t>
            </a:r>
            <a:endParaRPr sz="1500" b="0" dirty="0">
              <a:solidFill>
                <a:srgbClr val="16335B"/>
              </a:solidFill>
            </a:endParaRPr>
          </a:p>
          <a:p>
            <a:pPr algn="ctr">
              <a:defRPr sz="1500" b="0">
                <a:solidFill>
                  <a:srgbClr val="16335B"/>
                </a:solidFill>
              </a:defRPr>
            </a:pPr>
            <a:r>
              <a:rPr lang="ru-RU" sz="1500" b="0" dirty="0">
                <a:solidFill>
                  <a:srgbClr val="16335B"/>
                </a:solidFill>
              </a:rPr>
              <a:t>Следит за сбоями</a:t>
            </a:r>
            <a:endParaRPr sz="1500" b="0" dirty="0">
              <a:solidFill>
                <a:srgbClr val="16335B"/>
              </a:solidFill>
            </a:endParaRPr>
          </a:p>
        </p:txBody>
      </p:sp>
      <p:sp>
        <p:nvSpPr>
          <p:cNvPr id="21" name="conclusion">
            <a:extLst>
              <a:ext uri="{FF2B5EF4-FFF2-40B4-BE49-F238E27FC236}">
                <a16:creationId xmlns:a16="http://schemas.microsoft.com/office/drawing/2014/main" id="{3A2FAAFE-368A-4E88-2FC8-9EC1AF86AD46}"/>
              </a:ext>
            </a:extLst>
          </p:cNvPr>
          <p:cNvSpPr>
            <a:spLocks noGrp="1"/>
          </p:cNvSpPr>
          <p:nvPr/>
        </p:nvSpPr>
        <p:spPr>
          <a:xfrm>
            <a:off x="990600" y="5715000"/>
            <a:ext cx="1019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6335B"/>
                </a:solidFill>
              </a:defRPr>
            </a:pPr>
            <a:r>
              <a:rPr sz="1650" b="1">
                <a:solidFill>
                  <a:srgbClr val="16335B"/>
                </a:solidFill>
              </a:rPr>
              <a:t>Доверие к технической экспертизе не отменяет контроля: вы принимаете не «красивый ответ», а выполненные гейты.</a:t>
            </a:r>
          </a:p>
        </p:txBody>
      </p:sp>
      <p:sp>
        <p:nvSpPr>
          <p:cNvPr id="23" name="team-1">
            <a:extLst>
              <a:ext uri="{FF2B5EF4-FFF2-40B4-BE49-F238E27FC236}">
                <a16:creationId xmlns:a16="http://schemas.microsoft.com/office/drawing/2014/main" id="{B7AF1488-C9C1-4F54-4FD9-04C9F4C27CA1}"/>
              </a:ext>
            </a:extLst>
          </p:cNvPr>
          <p:cNvSpPr>
            <a:spLocks noGrp="1"/>
          </p:cNvSpPr>
          <p:nvPr/>
        </p:nvSpPr>
        <p:spPr>
          <a:xfrm>
            <a:off x="8959174" y="2762247"/>
            <a:ext cx="2114146" cy="1847851"/>
          </a:xfrm>
          <a:prstGeom prst="roundRect">
            <a:avLst>
              <a:gd name="adj" fmla="val 7407"/>
            </a:avLst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pPr algn="ctr"/>
            <a:endParaRPr lang="ru-RU" b="1" dirty="0"/>
          </a:p>
          <a:p>
            <a:pPr algn="ctr"/>
            <a:r>
              <a:rPr lang="ru-RU" b="1" dirty="0"/>
              <a:t>Фабрика</a:t>
            </a:r>
          </a:p>
          <a:p>
            <a:endParaRPr lang="ru-RU" dirty="0"/>
          </a:p>
          <a:p>
            <a:endParaRPr lang="ru-RU" dirty="0"/>
          </a:p>
          <a:p>
            <a:pPr algn="ctr"/>
            <a:r>
              <a:rPr lang="ru-RU" dirty="0"/>
              <a:t>Работает по флоу</a:t>
            </a:r>
          </a:p>
        </p:txBody>
      </p:sp>
    </p:spTree>
    <p:extLst>
      <p:ext uri="{BB962C8B-B14F-4D97-AF65-F5344CB8AC3E}">
        <p14:creationId xmlns:p14="http://schemas.microsoft.com/office/powerpoint/2010/main" val="236131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-rule-4">
            <a:extLst>
              <a:ext uri="{FF2B5EF4-FFF2-40B4-BE49-F238E27FC236}">
                <a16:creationId xmlns:a16="http://schemas.microsoft.com/office/drawing/2014/main" id="{EB67458F-2612-4208-B99A-33550878EFCB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label-4">
            <a:extLst>
              <a:ext uri="{FF2B5EF4-FFF2-40B4-BE49-F238E27FC236}">
                <a16:creationId xmlns:a16="http://schemas.microsoft.com/office/drawing/2014/main" id="{51B1983A-CC5C-4FA7-9BE8-BB0F2F4DC0B4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От промтов к команде ИИ</a:t>
            </a:r>
          </a:p>
        </p:txBody>
      </p:sp>
      <p:sp>
        <p:nvSpPr>
          <p:cNvPr id="3" name="footer-number-4">
            <a:extLst>
              <a:ext uri="{FF2B5EF4-FFF2-40B4-BE49-F238E27FC236}">
                <a16:creationId xmlns:a16="http://schemas.microsoft.com/office/drawing/2014/main" id="{8BA1FC7D-CD9D-492C-8104-9EC136603AF6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99D63C68-F86C-4302-845A-5515269DB962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Чем естественнее разговор — тем важнее хорошие гейты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C488F375-72B7-42BB-A3CF-F03BDB3E13A0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Современные модели лучше понимают простую речь, цели и контекст. Но понимание цели ещё не делает результат надёжным.</a:t>
            </a:r>
          </a:p>
        </p:txBody>
      </p:sp>
      <p:sp>
        <p:nvSpPr>
          <p:cNvPr id="6" name="left">
            <a:extLst>
              <a:ext uri="{FF2B5EF4-FFF2-40B4-BE49-F238E27FC236}">
                <a16:creationId xmlns:a16="http://schemas.microsoft.com/office/drawing/2014/main" id="{EFCDC69B-2474-4162-AC77-51F4811ED8FB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4705350" cy="2419350"/>
          </a:xfrm>
          <a:prstGeom prst="roundRect">
            <a:avLst>
              <a:gd name="adj" fmla="val 4724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7" name="left-title">
            <a:extLst>
              <a:ext uri="{FF2B5EF4-FFF2-40B4-BE49-F238E27FC236}">
                <a16:creationId xmlns:a16="http://schemas.microsoft.com/office/drawing/2014/main" id="{AD2C09AD-C575-46B8-8147-02F23A8E8231}"/>
              </a:ext>
            </a:extLst>
          </p:cNvPr>
          <p:cNvSpPr>
            <a:spLocks noGrp="1"/>
          </p:cNvSpPr>
          <p:nvPr/>
        </p:nvSpPr>
        <p:spPr>
          <a:xfrm>
            <a:off x="1162050" y="24765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16335B"/>
                </a:solidFill>
              </a:defRPr>
            </a:pPr>
            <a:r>
              <a:rPr sz="2250" b="1">
                <a:solidFill>
                  <a:srgbClr val="16335B"/>
                </a:solidFill>
              </a:rPr>
              <a:t>Можно говорить проще</a:t>
            </a:r>
          </a:p>
        </p:txBody>
      </p:sp>
      <p:sp>
        <p:nvSpPr>
          <p:cNvPr id="8" name="left-body">
            <a:extLst>
              <a:ext uri="{FF2B5EF4-FFF2-40B4-BE49-F238E27FC236}">
                <a16:creationId xmlns:a16="http://schemas.microsoft.com/office/drawing/2014/main" id="{849A4B91-592F-46E2-B09B-6999823A6298}"/>
              </a:ext>
            </a:extLst>
          </p:cNvPr>
          <p:cNvSpPr>
            <a:spLocks noGrp="1"/>
          </p:cNvSpPr>
          <p:nvPr/>
        </p:nvSpPr>
        <p:spPr>
          <a:xfrm>
            <a:off x="1162050" y="3162300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16335B"/>
                </a:solidFill>
              </a:defRPr>
            </a:pPr>
            <a:r>
              <a:rPr sz="1875" b="0">
                <a:solidFill>
                  <a:srgbClr val="16335B"/>
                </a:solidFill>
              </a:rPr>
              <a:t>«Нужен такой результат»</a:t>
            </a:r>
          </a:p>
          <a:p>
            <a:pPr algn="l">
              <a:defRPr sz="1875" b="0">
                <a:solidFill>
                  <a:srgbClr val="16335B"/>
                </a:solidFill>
              </a:defRPr>
            </a:pPr>
            <a:r>
              <a:rPr sz="1875" b="0">
                <a:solidFill>
                  <a:srgbClr val="16335B"/>
                </a:solidFill>
              </a:rPr>
              <a:t>«Вот контекст и ограничения»</a:t>
            </a:r>
          </a:p>
          <a:p>
            <a:pPr algn="l">
              <a:defRPr sz="1875" b="0">
                <a:solidFill>
                  <a:srgbClr val="16335B"/>
                </a:solidFill>
              </a:defRPr>
            </a:pPr>
            <a:r>
              <a:rPr sz="1875" b="0">
                <a:solidFill>
                  <a:srgbClr val="16335B"/>
                </a:solidFill>
              </a:rPr>
              <a:t>«Эту развилку верни мне»</a:t>
            </a:r>
          </a:p>
        </p:txBody>
      </p:sp>
      <p:sp>
        <p:nvSpPr>
          <p:cNvPr id="9" name="right">
            <a:extLst>
              <a:ext uri="{FF2B5EF4-FFF2-40B4-BE49-F238E27FC236}">
                <a16:creationId xmlns:a16="http://schemas.microsoft.com/office/drawing/2014/main" id="{E1A626D1-7971-4036-8A35-B2949A6F339C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705350" cy="2419350"/>
          </a:xfrm>
          <a:prstGeom prst="roundRect">
            <a:avLst>
              <a:gd name="adj" fmla="val 4724"/>
            </a:avLst>
          </a:prstGeom>
          <a:solidFill>
            <a:srgbClr val="16335B"/>
          </a:solidFill>
          <a:ln w="9525">
            <a:solidFill>
              <a:srgbClr val="16335B"/>
            </a:solidFill>
            <a:prstDash val="solid"/>
          </a:ln>
        </p:spPr>
      </p:sp>
      <p:sp>
        <p:nvSpPr>
          <p:cNvPr id="10" name="right-title">
            <a:extLst>
              <a:ext uri="{FF2B5EF4-FFF2-40B4-BE49-F238E27FC236}">
                <a16:creationId xmlns:a16="http://schemas.microsoft.com/office/drawing/2014/main" id="{57D06241-D5EF-4626-8E59-09339FE1DCDE}"/>
              </a:ext>
            </a:extLst>
          </p:cNvPr>
          <p:cNvSpPr>
            <a:spLocks noGrp="1"/>
          </p:cNvSpPr>
          <p:nvPr/>
        </p:nvSpPr>
        <p:spPr>
          <a:xfrm>
            <a:off x="6972300" y="24765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Но проверять надо строже</a:t>
            </a:r>
          </a:p>
        </p:txBody>
      </p:sp>
      <p:sp>
        <p:nvSpPr>
          <p:cNvPr id="11" name="right-body">
            <a:extLst>
              <a:ext uri="{FF2B5EF4-FFF2-40B4-BE49-F238E27FC236}">
                <a16:creationId xmlns:a16="http://schemas.microsoft.com/office/drawing/2014/main" id="{D38E0726-9C84-44C8-B5AF-F3359E1318D6}"/>
              </a:ext>
            </a:extLst>
          </p:cNvPr>
          <p:cNvSpPr>
            <a:spLocks noGrp="1"/>
          </p:cNvSpPr>
          <p:nvPr/>
        </p:nvSpPr>
        <p:spPr>
          <a:xfrm>
            <a:off x="6972300" y="3162300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Есть ли доказательство?</a:t>
            </a:r>
          </a:p>
          <a:p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Пройден ли нужный гейт?</a:t>
            </a:r>
          </a:p>
          <a:p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Кто проверил независимо?</a:t>
            </a:r>
          </a:p>
        </p:txBody>
      </p:sp>
      <p:sp>
        <p:nvSpPr>
          <p:cNvPr id="12" name="bridge">
            <a:extLst>
              <a:ext uri="{FF2B5EF4-FFF2-40B4-BE49-F238E27FC236}">
                <a16:creationId xmlns:a16="http://schemas.microsoft.com/office/drawing/2014/main" id="{09EFD8BC-68E9-4B45-94EE-5AE1212C0D2B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Следующий доклад — о том, в чём ИИ можно верить, а в чём нет.</a:t>
            </a:r>
          </a:p>
        </p:txBody>
      </p:sp>
    </p:spTree>
    <p:extLst>
      <p:ext uri="{BB962C8B-B14F-4D97-AF65-F5344CB8AC3E}">
        <p14:creationId xmlns:p14="http://schemas.microsoft.com/office/powerpoint/2010/main" val="20887912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</Words>
  <Application>Microsoft Office PowerPoint</Application>
  <DocSecurity>0</DocSecurity>
  <PresentationFormat>Широкоэкранный</PresentationFormat>
  <Paragraphs>96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7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Mariia</cp:lastModifiedBy>
  <cp:revision>1</cp:revision>
  <dcterms:created xsi:type="dcterms:W3CDTF">2026-08-17T12:18:27Z</dcterms:created>
  <dcterms:modified xsi:type="dcterms:W3CDTF">2026-08-17T14:58:46Z</dcterms:modified>
</cp:coreProperties>
</file>