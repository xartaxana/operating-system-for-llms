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6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2222" autoAdjust="0"/>
  </p:normalViewPr>
  <p:slideViewPr>
    <p:cSldViewPr snapToGrid="0">
      <p:cViewPr varScale="1">
        <p:scale>
          <a:sx n="92" d="100"/>
          <a:sy n="92" d="100"/>
        </p:scale>
        <p:origin x="127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Верных ответов из 10</c:v>
          </c:tx>
          <c:spPr>
            <a:solidFill>
              <a:srgbClr val="3D8DFF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Haiku — прогон 1</c:v>
              </c:pt>
              <c:pt idx="1">
                <c:v>Haiku — прогон 2</c:v>
              </c:pt>
              <c:pt idx="2">
                <c:v>Sonnet — контроль</c:v>
              </c:pt>
            </c:strLit>
          </c:cat>
          <c:val>
            <c:numLit>
              <c:formatCode>General</c:formatCode>
              <c:ptCount val="3"/>
              <c:pt idx="0">
                <c:v>2</c:v>
              </c:pt>
              <c:pt idx="1">
                <c:v>2</c:v>
              </c:pt>
              <c:pt idx="2">
                <c:v>10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E1F-42EC-BCB8-B2C2F9107DA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ru-RU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D0D5DD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ru-RU"/>
          </a:p>
        </c:txPr>
        <c:crossAx val="48650112"/>
        <c:crosses val="autoZero"/>
        <c:crossBetween val="between"/>
        <c:majorUnit val="2"/>
      </c:valAx>
    </c:plotArea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Internal article draft and project calibration reports; no external 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PROCESS/DEPLOYMENT_ECONOMY_EXAM.md, lines 35–62 and 103–135; docs/RETRO_PATTERNS.md.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PROCESS/SCOUT_GOLDEN_SET.md; PROCESS/CRITIC_EXAM.md; docs/FINDINGS.md.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A0906-D2A9-4ED4-64AB-ED75829D6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84F7BD-D37E-D0F5-FA12-B4852BD959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89EBD2-D344-B59D-BC61-6AD1ECD687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PROCESS/SCOUT_GOLDEN_SET.md; PROCESS/CRITIC_EXAM.md; docs/FINDINGS.md.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9317C9-8AFD-85EB-7E62-28A5AFCF791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069134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docs/tasks/2026-08-16_scout-exam-v2-draft.md; docs/tasks/2026-08-16_critic-exam-v2-key-SPENT.md.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docs/tasks/2026-08-16_dog-delivery-scout-exam.md, lines 27–29; docs/POLICY_FULL.md, lines 1006–1015.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PROCESS/CRITIC_EXAM.md, lines 586–610; docs/tasks/2026-08-16_dog-delivery-scout-exam.md, line 32.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«Мета-контекст» — это не ответ по задаче, а условия, в которых этот ответ был получен:</a:t>
            </a:r>
          </a:p>
          <a:p>
            <a:r>
              <a:rPr lang="ru-RU" dirty="0"/>
              <a:t>кто именно вынес вердикт и достаточно ли он силён для этой роли;</a:t>
            </a:r>
          </a:p>
          <a:p>
            <a:r>
              <a:rPr lang="ru-RU" dirty="0"/>
              <a:t>какая модель сейчас работает и не была ли она понижена;</a:t>
            </a:r>
          </a:p>
          <a:p>
            <a:r>
              <a:rPr lang="ru-RU" dirty="0"/>
              <a:t>что изменилось до текущего сообщения;</a:t>
            </a:r>
          </a:p>
          <a:p>
            <a:r>
              <a:rPr lang="ru-RU" dirty="0"/>
              <a:t>есть ли независимое подтверждение, а не только уверенное заключение.</a:t>
            </a:r>
          </a:p>
          <a:p>
            <a:r>
              <a:rPr lang="ru-RU" dirty="0"/>
              <a:t>То есть </a:t>
            </a:r>
            <a:r>
              <a:rPr lang="ru-RU" dirty="0" err="1"/>
              <a:t>Fable</a:t>
            </a:r>
            <a:r>
              <a:rPr lang="ru-RU" dirty="0"/>
              <a:t> может хорошо решить саму задачу, но ей нельзя автоматически доверять в вопросе «кто и на каком основании это уже проверил». На слайде понятнее будет написать: «Проверять условия и источник решения».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yebrow">
            <a:extLst>
              <a:ext uri="{FF2B5EF4-FFF2-40B4-BE49-F238E27FC236}">
                <a16:creationId xmlns:a16="http://schemas.microsoft.com/office/drawing/2014/main" id="{D2162D8C-8678-4473-9F96-A9A514E7DA0A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857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Наблюдения из реальных проверок моделей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9D71079-8D4F-4239-BCC4-8B51BF942F22}"/>
              </a:ext>
            </a:extLst>
          </p:cNvPr>
          <p:cNvSpPr>
            <a:spLocks noGrp="1"/>
          </p:cNvSpPr>
          <p:nvPr/>
        </p:nvSpPr>
        <p:spPr>
          <a:xfrm>
            <a:off x="400050" y="1219200"/>
            <a:ext cx="69532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4350" b="1">
                <a:solidFill>
                  <a:srgbClr val="101828"/>
                </a:solidFill>
              </a:defRPr>
            </a:pPr>
            <a:r>
              <a:rPr sz="4350" b="1">
                <a:solidFill>
                  <a:srgbClr val="101828"/>
                </a:solidFill>
              </a:rPr>
              <a:t>Что тяжелее</a:t>
            </a:r>
          </a:p>
          <a:p>
            <a:pPr algn="l">
              <a:defRPr sz="4350" b="1">
                <a:solidFill>
                  <a:srgbClr val="101828"/>
                </a:solidFill>
              </a:defRPr>
            </a:pPr>
            <a:r>
              <a:rPr sz="4350" b="1">
                <a:solidFill>
                  <a:srgbClr val="101828"/>
                </a:solidFill>
              </a:rPr>
              <a:t>всего даётся ИИ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AD2C3045-A24D-447D-8825-C20DD8A98DEC}"/>
              </a:ext>
            </a:extLst>
          </p:cNvPr>
          <p:cNvSpPr>
            <a:spLocks noGrp="1"/>
          </p:cNvSpPr>
          <p:nvPr/>
        </p:nvSpPr>
        <p:spPr>
          <a:xfrm>
            <a:off x="400050" y="3409950"/>
            <a:ext cx="62865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0">
                <a:solidFill>
                  <a:srgbClr val="475467"/>
                </a:solidFill>
              </a:defRPr>
            </a:pPr>
            <a:r>
              <a:rPr sz="2100" b="0">
                <a:solidFill>
                  <a:srgbClr val="475467"/>
                </a:solidFill>
              </a:rPr>
              <a:t>Не написать ответ. А остановиться, проверить себя</a:t>
            </a:r>
          </a:p>
          <a:p>
            <a:pPr algn="l">
              <a:defRPr sz="2100" b="0">
                <a:solidFill>
                  <a:srgbClr val="475467"/>
                </a:solidFill>
              </a:defRPr>
            </a:pPr>
            <a:r>
              <a:rPr sz="2100" b="0">
                <a:solidFill>
                  <a:srgbClr val="475467"/>
                </a:solidFill>
              </a:rPr>
              <a:t>и выбрать более трудный путь, когда он нужен.</a:t>
            </a:r>
          </a:p>
        </p:txBody>
      </p:sp>
      <p:sp>
        <p:nvSpPr>
          <p:cNvPr id="4" name="hero-frame">
            <a:extLst>
              <a:ext uri="{FF2B5EF4-FFF2-40B4-BE49-F238E27FC236}">
                <a16:creationId xmlns:a16="http://schemas.microsoft.com/office/drawing/2014/main" id="{FDABC5F6-7971-4136-A32A-EA6B7A28690A}"/>
              </a:ext>
            </a:extLst>
          </p:cNvPr>
          <p:cNvSpPr>
            <a:spLocks noGrp="1"/>
          </p:cNvSpPr>
          <p:nvPr/>
        </p:nvSpPr>
        <p:spPr>
          <a:xfrm>
            <a:off x="7810500" y="1104900"/>
            <a:ext cx="3181350" cy="3409950"/>
          </a:xfrm>
          <a:prstGeom prst="roundRect">
            <a:avLst>
              <a:gd name="adj" fmla="val 3593"/>
            </a:avLst>
          </a:prstGeom>
          <a:solidFill>
            <a:srgbClr val="EAF5FB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5" name="hero-line">
            <a:extLst>
              <a:ext uri="{FF2B5EF4-FFF2-40B4-BE49-F238E27FC236}">
                <a16:creationId xmlns:a16="http://schemas.microsoft.com/office/drawing/2014/main" id="{26985C96-38A7-4551-9D29-89F893699F42}"/>
              </a:ext>
            </a:extLst>
          </p:cNvPr>
          <p:cNvSpPr>
            <a:spLocks noGrp="1"/>
          </p:cNvSpPr>
          <p:nvPr/>
        </p:nvSpPr>
        <p:spPr>
          <a:xfrm>
            <a:off x="8220075" y="2425860"/>
            <a:ext cx="2362200" cy="0"/>
          </a:xfrm>
          <a:prstGeom prst="line">
            <a:avLst/>
          </a:prstGeom>
          <a:noFill/>
          <a:ln w="28575">
            <a:solidFill>
              <a:srgbClr val="3D8DFF"/>
            </a:solidFill>
            <a:prstDash val="solid"/>
          </a:ln>
        </p:spPr>
      </p:sp>
      <p:sp>
        <p:nvSpPr>
          <p:cNvPr id="6" name="hero-fast">
            <a:extLst>
              <a:ext uri="{FF2B5EF4-FFF2-40B4-BE49-F238E27FC236}">
                <a16:creationId xmlns:a16="http://schemas.microsoft.com/office/drawing/2014/main" id="{036AC6B7-267A-401E-8843-1473B88E45A6}"/>
              </a:ext>
            </a:extLst>
          </p:cNvPr>
          <p:cNvSpPr>
            <a:spLocks noGrp="1"/>
          </p:cNvSpPr>
          <p:nvPr/>
        </p:nvSpPr>
        <p:spPr>
          <a:xfrm>
            <a:off x="8429625" y="1453831"/>
            <a:ext cx="186690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01828"/>
                </a:solidFill>
              </a:defRPr>
            </a:pPr>
            <a:r>
              <a:rPr lang="ru-RU" b="1" dirty="0">
                <a:solidFill>
                  <a:srgbClr val="101828"/>
                </a:solidFill>
              </a:rPr>
              <a:t>быстрый</a:t>
            </a:r>
          </a:p>
          <a:p>
            <a:pPr algn="ctr">
              <a:defRPr sz="1350" b="1">
                <a:solidFill>
                  <a:srgbClr val="101828"/>
                </a:solidFill>
              </a:defRPr>
            </a:pPr>
            <a:r>
              <a:rPr lang="ru-RU" b="1" dirty="0">
                <a:solidFill>
                  <a:srgbClr val="101828"/>
                </a:solidFill>
              </a:rPr>
              <a:t>правдоподобный ответ</a:t>
            </a:r>
          </a:p>
          <a:p>
            <a:endParaRPr lang="ru-RU" dirty="0"/>
          </a:p>
        </p:txBody>
      </p:sp>
      <p:sp>
        <p:nvSpPr>
          <p:cNvPr id="8" name="hero-check">
            <a:extLst>
              <a:ext uri="{FF2B5EF4-FFF2-40B4-BE49-F238E27FC236}">
                <a16:creationId xmlns:a16="http://schemas.microsoft.com/office/drawing/2014/main" id="{3F486CDF-EAD0-4D93-A8BC-EB46EBE62C63}"/>
              </a:ext>
            </a:extLst>
          </p:cNvPr>
          <p:cNvSpPr>
            <a:spLocks noGrp="1"/>
          </p:cNvSpPr>
          <p:nvPr/>
        </p:nvSpPr>
        <p:spPr>
          <a:xfrm>
            <a:off x="8467725" y="2611299"/>
            <a:ext cx="1866900" cy="594888"/>
          </a:xfrm>
          <a:prstGeom prst="roundRect">
            <a:avLst>
              <a:gd name="adj" fmla="val 15789"/>
            </a:avLst>
          </a:prstGeom>
          <a:solidFill>
            <a:srgbClr val="16335B"/>
          </a:solidFill>
          <a:ln w="9525">
            <a:solidFill>
              <a:srgbClr val="16335B"/>
            </a:solidFill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lang="ru-RU" b="1" dirty="0">
                <a:solidFill>
                  <a:srgbClr val="FFFFFF"/>
                </a:solidFill>
              </a:rPr>
              <a:t>проверка</a:t>
            </a:r>
          </a:p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lang="ru-RU" b="1" dirty="0">
                <a:solidFill>
                  <a:srgbClr val="FFFFFF"/>
                </a:solidFill>
              </a:rPr>
              <a:t>и доказательство</a:t>
            </a:r>
          </a:p>
        </p:txBody>
      </p:sp>
      <p:sp>
        <p:nvSpPr>
          <p:cNvPr id="10" name="hero-claim">
            <a:extLst>
              <a:ext uri="{FF2B5EF4-FFF2-40B4-BE49-F238E27FC236}">
                <a16:creationId xmlns:a16="http://schemas.microsoft.com/office/drawing/2014/main" id="{2A15C338-FEA1-42A7-990E-B6E7395A8E2F}"/>
              </a:ext>
            </a:extLst>
          </p:cNvPr>
          <p:cNvSpPr>
            <a:spLocks noGrp="1"/>
          </p:cNvSpPr>
          <p:nvPr/>
        </p:nvSpPr>
        <p:spPr>
          <a:xfrm>
            <a:off x="8429625" y="3464569"/>
            <a:ext cx="2762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16335B"/>
                </a:solidFill>
              </a:defRPr>
            </a:pPr>
            <a:r>
              <a:rPr sz="1575" b="1" dirty="0" err="1">
                <a:solidFill>
                  <a:srgbClr val="16335B"/>
                </a:solidFill>
              </a:rPr>
              <a:t>Где</a:t>
            </a:r>
            <a:r>
              <a:rPr sz="1575" b="1" dirty="0">
                <a:solidFill>
                  <a:srgbClr val="16335B"/>
                </a:solidFill>
              </a:rPr>
              <a:t> </a:t>
            </a:r>
            <a:r>
              <a:rPr sz="1575" b="1" dirty="0" err="1">
                <a:solidFill>
                  <a:srgbClr val="16335B"/>
                </a:solidFill>
              </a:rPr>
              <a:t>дороже</a:t>
            </a:r>
            <a:r>
              <a:rPr sz="1575" b="1" dirty="0">
                <a:solidFill>
                  <a:srgbClr val="16335B"/>
                </a:solidFill>
              </a:rPr>
              <a:t> </a:t>
            </a:r>
            <a:r>
              <a:rPr sz="1575" b="1" dirty="0" err="1">
                <a:solidFill>
                  <a:srgbClr val="16335B"/>
                </a:solidFill>
              </a:rPr>
              <a:t>путь</a:t>
            </a:r>
            <a:r>
              <a:rPr sz="1575" b="1" dirty="0">
                <a:solidFill>
                  <a:srgbClr val="16335B"/>
                </a:solidFill>
              </a:rPr>
              <a:t> —</a:t>
            </a:r>
          </a:p>
          <a:p>
            <a:pPr algn="l">
              <a:defRPr sz="1575" b="1">
                <a:solidFill>
                  <a:srgbClr val="16335B"/>
                </a:solidFill>
              </a:defRPr>
            </a:pPr>
            <a:r>
              <a:rPr sz="1575" b="1" dirty="0" err="1">
                <a:solidFill>
                  <a:srgbClr val="16335B"/>
                </a:solidFill>
              </a:rPr>
              <a:t>там</a:t>
            </a:r>
            <a:r>
              <a:rPr sz="1575" b="1" dirty="0">
                <a:solidFill>
                  <a:srgbClr val="16335B"/>
                </a:solidFill>
              </a:rPr>
              <a:t> и </a:t>
            </a:r>
            <a:r>
              <a:rPr sz="1575" b="1" dirty="0" err="1">
                <a:solidFill>
                  <a:srgbClr val="16335B"/>
                </a:solidFill>
              </a:rPr>
              <a:t>проходит</a:t>
            </a:r>
            <a:endParaRPr sz="1575" b="1" dirty="0">
              <a:solidFill>
                <a:srgbClr val="16335B"/>
              </a:solidFill>
            </a:endParaRPr>
          </a:p>
          <a:p>
            <a:pPr algn="l">
              <a:defRPr sz="1575" b="1">
                <a:solidFill>
                  <a:srgbClr val="16335B"/>
                </a:solidFill>
              </a:defRPr>
            </a:pPr>
            <a:r>
              <a:rPr sz="1575" b="1" dirty="0" err="1">
                <a:solidFill>
                  <a:srgbClr val="16335B"/>
                </a:solidFill>
              </a:rPr>
              <a:t>граница</a:t>
            </a:r>
            <a:r>
              <a:rPr sz="1575" b="1" dirty="0">
                <a:solidFill>
                  <a:srgbClr val="16335B"/>
                </a:solidFill>
              </a:rPr>
              <a:t> </a:t>
            </a:r>
            <a:r>
              <a:rPr sz="1575" b="1" dirty="0" err="1">
                <a:solidFill>
                  <a:srgbClr val="16335B"/>
                </a:solidFill>
              </a:rPr>
              <a:t>надёжности</a:t>
            </a:r>
            <a:r>
              <a:rPr sz="1575" b="1" dirty="0">
                <a:solidFill>
                  <a:srgbClr val="16335B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37934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oter-rule-2">
            <a:extLst>
              <a:ext uri="{FF2B5EF4-FFF2-40B4-BE49-F238E27FC236}">
                <a16:creationId xmlns:a16="http://schemas.microsoft.com/office/drawing/2014/main" id="{11FFE8D2-F115-4073-AB46-B1338B1E6D41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1391900" cy="0"/>
          </a:xfrm>
          <a:prstGeom prst="line">
            <a:avLst/>
          </a:prstGeom>
          <a:noFill/>
          <a:ln w="9525">
            <a:solidFill>
              <a:srgbClr val="D0D5DD"/>
            </a:solidFill>
            <a:prstDash val="solid"/>
          </a:ln>
        </p:spPr>
      </p:sp>
      <p:sp>
        <p:nvSpPr>
          <p:cNvPr id="2" name="footer-title-2">
            <a:extLst>
              <a:ext uri="{FF2B5EF4-FFF2-40B4-BE49-F238E27FC236}">
                <a16:creationId xmlns:a16="http://schemas.microsoft.com/office/drawing/2014/main" id="{0AD16CA6-F2F9-4631-8A64-7B2093EE9C5D}"/>
              </a:ext>
            </a:extLst>
          </p:cNvPr>
          <p:cNvSpPr>
            <a:spLocks noGrp="1"/>
          </p:cNvSpPr>
          <p:nvPr/>
        </p:nvSpPr>
        <p:spPr>
          <a:xfrm>
            <a:off x="400050" y="6505575"/>
            <a:ext cx="504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Что тяжелее всего даётся ИИ</a:t>
            </a:r>
          </a:p>
        </p:txBody>
      </p:sp>
      <p:sp>
        <p:nvSpPr>
          <p:cNvPr id="3" name="footer-number-2">
            <a:extLst>
              <a:ext uri="{FF2B5EF4-FFF2-40B4-BE49-F238E27FC236}">
                <a16:creationId xmlns:a16="http://schemas.microsoft.com/office/drawing/2014/main" id="{2735DB5C-E355-414D-82DF-0BDBE6AF3C6E}"/>
              </a:ext>
            </a:extLst>
          </p:cNvPr>
          <p:cNvSpPr>
            <a:spLocks noGrp="1"/>
          </p:cNvSpPr>
          <p:nvPr/>
        </p:nvSpPr>
        <p:spPr>
          <a:xfrm>
            <a:off x="11277600" y="6505575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2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3B2A8833-5BFA-4076-8F94-1DCFED6F7FBA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0572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925" b="1">
                <a:solidFill>
                  <a:srgbClr val="101828"/>
                </a:solidFill>
              </a:defRPr>
            </a:pPr>
            <a:r>
              <a:rPr sz="2925" b="1">
                <a:solidFill>
                  <a:srgbClr val="101828"/>
                </a:solidFill>
              </a:rPr>
              <a:t>Главный механизм ошибок: путь наименьшего сопротивления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77A1EDB1-9350-432B-B955-64894FF68893}"/>
              </a:ext>
            </a:extLst>
          </p:cNvPr>
          <p:cNvSpPr>
            <a:spLocks noGrp="1"/>
          </p:cNvSpPr>
          <p:nvPr/>
        </p:nvSpPr>
        <p:spPr>
          <a:xfrm>
            <a:off x="400050" y="11430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475467"/>
                </a:solidFill>
              </a:defRPr>
            </a:pPr>
            <a:r>
              <a:rPr sz="1725" b="0">
                <a:solidFill>
                  <a:srgbClr val="475467"/>
                </a:solidFill>
              </a:rPr>
              <a:t>Модель не «хочет ошибиться». Она выбирает ответ, который дешевле получить и выглядит достаточно убедительно.</a:t>
            </a:r>
          </a:p>
        </p:txBody>
      </p:sp>
      <p:sp>
        <p:nvSpPr>
          <p:cNvPr id="7" name="arrow-check">
            <a:extLst>
              <a:ext uri="{FF2B5EF4-FFF2-40B4-BE49-F238E27FC236}">
                <a16:creationId xmlns:a16="http://schemas.microsoft.com/office/drawing/2014/main" id="{7E43CEC3-3073-4582-A2BB-E617907DB90B}"/>
              </a:ext>
            </a:extLst>
          </p:cNvPr>
          <p:cNvSpPr>
            <a:spLocks noGrp="1"/>
          </p:cNvSpPr>
          <p:nvPr/>
        </p:nvSpPr>
        <p:spPr>
          <a:xfrm>
            <a:off x="2209800" y="3600450"/>
            <a:ext cx="2343150" cy="1104900"/>
          </a:xfrm>
          <a:prstGeom prst="line">
            <a:avLst/>
          </a:prstGeom>
          <a:noFill/>
          <a:ln w="28575">
            <a:solidFill>
              <a:srgbClr val="3D8DFF"/>
            </a:solidFill>
            <a:prstDash val="solid"/>
          </a:ln>
        </p:spPr>
      </p:sp>
      <p:sp>
        <p:nvSpPr>
          <p:cNvPr id="8" name="question">
            <a:extLst>
              <a:ext uri="{FF2B5EF4-FFF2-40B4-BE49-F238E27FC236}">
                <a16:creationId xmlns:a16="http://schemas.microsoft.com/office/drawing/2014/main" id="{AE5DB236-F520-4EB5-9A96-F5813B1E3035}"/>
              </a:ext>
            </a:extLst>
          </p:cNvPr>
          <p:cNvSpPr>
            <a:spLocks noGrp="1"/>
          </p:cNvSpPr>
          <p:nvPr/>
        </p:nvSpPr>
        <p:spPr>
          <a:xfrm>
            <a:off x="476250" y="3009900"/>
            <a:ext cx="1733550" cy="1181100"/>
          </a:xfrm>
          <a:prstGeom prst="roundRect">
            <a:avLst>
              <a:gd name="adj" fmla="val 9677"/>
            </a:avLst>
          </a:prstGeom>
          <a:solidFill>
            <a:srgbClr val="16335B"/>
          </a:solidFill>
          <a:ln w="9525">
            <a:solidFill>
              <a:srgbClr val="16335B"/>
            </a:solidFill>
            <a:prstDash val="solid"/>
          </a:ln>
        </p:spPr>
      </p:sp>
      <p:sp>
        <p:nvSpPr>
          <p:cNvPr id="9" name="question-text">
            <a:extLst>
              <a:ext uri="{FF2B5EF4-FFF2-40B4-BE49-F238E27FC236}">
                <a16:creationId xmlns:a16="http://schemas.microsoft.com/office/drawing/2014/main" id="{ADA0E807-E6E5-48E5-8512-BF861C0AD253}"/>
              </a:ext>
            </a:extLst>
          </p:cNvPr>
          <p:cNvSpPr>
            <a:spLocks noGrp="1"/>
          </p:cNvSpPr>
          <p:nvPr/>
        </p:nvSpPr>
        <p:spPr>
          <a:xfrm>
            <a:off x="590550" y="3381375"/>
            <a:ext cx="15049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Есть</a:t>
            </a:r>
          </a:p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утверждение</a:t>
            </a:r>
          </a:p>
        </p:txBody>
      </p:sp>
      <p:sp>
        <p:nvSpPr>
          <p:cNvPr id="10" name="fast-route">
            <a:extLst>
              <a:ext uri="{FF2B5EF4-FFF2-40B4-BE49-F238E27FC236}">
                <a16:creationId xmlns:a16="http://schemas.microsoft.com/office/drawing/2014/main" id="{959486CC-78D8-4492-B895-26383666EDC8}"/>
              </a:ext>
            </a:extLst>
          </p:cNvPr>
          <p:cNvSpPr>
            <a:spLocks noGrp="1"/>
          </p:cNvSpPr>
          <p:nvPr/>
        </p:nvSpPr>
        <p:spPr>
          <a:xfrm>
            <a:off x="4552950" y="1885950"/>
            <a:ext cx="2895600" cy="1390650"/>
          </a:xfrm>
          <a:prstGeom prst="roundRect">
            <a:avLst>
              <a:gd name="adj" fmla="val 8219"/>
            </a:avLst>
          </a:prstGeom>
          <a:solidFill>
            <a:srgbClr val="FDECC8"/>
          </a:solidFill>
          <a:ln w="9525">
            <a:solidFill>
              <a:srgbClr val="E9B949"/>
            </a:solidFill>
            <a:prstDash val="solid"/>
          </a:ln>
        </p:spPr>
      </p:sp>
      <p:sp>
        <p:nvSpPr>
          <p:cNvPr id="11" name="fast-title">
            <a:extLst>
              <a:ext uri="{FF2B5EF4-FFF2-40B4-BE49-F238E27FC236}">
                <a16:creationId xmlns:a16="http://schemas.microsoft.com/office/drawing/2014/main" id="{947F9C50-AD3C-4768-8823-2CAAD9AC2C77}"/>
              </a:ext>
            </a:extLst>
          </p:cNvPr>
          <p:cNvSpPr>
            <a:spLocks noGrp="1"/>
          </p:cNvSpPr>
          <p:nvPr/>
        </p:nvSpPr>
        <p:spPr>
          <a:xfrm>
            <a:off x="4800600" y="2105025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8A4B00"/>
                </a:solidFill>
              </a:defRPr>
            </a:pPr>
            <a:r>
              <a:rPr sz="1875" b="1">
                <a:solidFill>
                  <a:srgbClr val="8A4B00"/>
                </a:solidFill>
              </a:rPr>
              <a:t>Дешёвый путь</a:t>
            </a:r>
          </a:p>
        </p:txBody>
      </p:sp>
      <p:sp>
        <p:nvSpPr>
          <p:cNvPr id="12" name="fast-body">
            <a:extLst>
              <a:ext uri="{FF2B5EF4-FFF2-40B4-BE49-F238E27FC236}">
                <a16:creationId xmlns:a16="http://schemas.microsoft.com/office/drawing/2014/main" id="{2EB29400-8E03-4880-A85D-059F8DACED84}"/>
              </a:ext>
            </a:extLst>
          </p:cNvPr>
          <p:cNvSpPr>
            <a:spLocks noGrp="1"/>
          </p:cNvSpPr>
          <p:nvPr/>
        </p:nvSpPr>
        <p:spPr>
          <a:xfrm>
            <a:off x="4800600" y="2514600"/>
            <a:ext cx="2381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8A4B00"/>
                </a:solidFill>
              </a:defRPr>
            </a:pPr>
            <a:r>
              <a:rPr sz="1350" b="0">
                <a:solidFill>
                  <a:srgbClr val="8A4B00"/>
                </a:solidFill>
              </a:rPr>
              <a:t>Первый похожий файл</a:t>
            </a:r>
          </a:p>
          <a:p>
            <a:pPr algn="l">
              <a:defRPr sz="1350" b="0">
                <a:solidFill>
                  <a:srgbClr val="8A4B00"/>
                </a:solidFill>
              </a:defRPr>
            </a:pPr>
            <a:r>
              <a:rPr sz="1350" b="0">
                <a:solidFill>
                  <a:srgbClr val="8A4B00"/>
                </a:solidFill>
              </a:rPr>
              <a:t>Пустой поиск = «нет»</a:t>
            </a:r>
          </a:p>
          <a:p>
            <a:pPr algn="l">
              <a:defRPr sz="1350" b="0">
                <a:solidFill>
                  <a:srgbClr val="8A4B00"/>
                </a:solidFill>
              </a:defRPr>
            </a:pPr>
            <a:r>
              <a:rPr sz="1350" b="0">
                <a:solidFill>
                  <a:srgbClr val="8A4B00"/>
                </a:solidFill>
              </a:rPr>
              <a:t>Чужой отчёт = «прошло»</a:t>
            </a:r>
          </a:p>
        </p:txBody>
      </p:sp>
      <p:sp>
        <p:nvSpPr>
          <p:cNvPr id="13" name="check-route">
            <a:extLst>
              <a:ext uri="{FF2B5EF4-FFF2-40B4-BE49-F238E27FC236}">
                <a16:creationId xmlns:a16="http://schemas.microsoft.com/office/drawing/2014/main" id="{9761CB42-4A16-4B0E-8E6D-C786DD111BF4}"/>
              </a:ext>
            </a:extLst>
          </p:cNvPr>
          <p:cNvSpPr>
            <a:spLocks noGrp="1"/>
          </p:cNvSpPr>
          <p:nvPr/>
        </p:nvSpPr>
        <p:spPr>
          <a:xfrm>
            <a:off x="4552950" y="4019550"/>
            <a:ext cx="2895600" cy="1390650"/>
          </a:xfrm>
          <a:prstGeom prst="roundRect">
            <a:avLst>
              <a:gd name="adj" fmla="val 8219"/>
            </a:avLst>
          </a:prstGeom>
          <a:solidFill>
            <a:srgbClr val="EAF5FB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4" name="check-title">
            <a:extLst>
              <a:ext uri="{FF2B5EF4-FFF2-40B4-BE49-F238E27FC236}">
                <a16:creationId xmlns:a16="http://schemas.microsoft.com/office/drawing/2014/main" id="{81560D7A-3CF4-481D-8E9C-5DD05852A38C}"/>
              </a:ext>
            </a:extLst>
          </p:cNvPr>
          <p:cNvSpPr>
            <a:spLocks noGrp="1"/>
          </p:cNvSpPr>
          <p:nvPr/>
        </p:nvSpPr>
        <p:spPr>
          <a:xfrm>
            <a:off x="4800600" y="4238625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16335B"/>
                </a:solidFill>
              </a:defRPr>
            </a:pPr>
            <a:r>
              <a:rPr sz="1875" b="1">
                <a:solidFill>
                  <a:srgbClr val="16335B"/>
                </a:solidFill>
              </a:rPr>
              <a:t>Правильный путь</a:t>
            </a:r>
          </a:p>
        </p:txBody>
      </p:sp>
      <p:sp>
        <p:nvSpPr>
          <p:cNvPr id="15" name="check-body">
            <a:extLst>
              <a:ext uri="{FF2B5EF4-FFF2-40B4-BE49-F238E27FC236}">
                <a16:creationId xmlns:a16="http://schemas.microsoft.com/office/drawing/2014/main" id="{FF85B7CD-1B4B-451E-BBEF-BFA8F73E676B}"/>
              </a:ext>
            </a:extLst>
          </p:cNvPr>
          <p:cNvSpPr>
            <a:spLocks noGrp="1"/>
          </p:cNvSpPr>
          <p:nvPr/>
        </p:nvSpPr>
        <p:spPr>
          <a:xfrm>
            <a:off x="4800600" y="4610100"/>
            <a:ext cx="2476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16335B"/>
                </a:solidFill>
              </a:defRPr>
            </a:pPr>
            <a:r>
              <a:rPr sz="1275" b="0">
                <a:solidFill>
                  <a:srgbClr val="16335B"/>
                </a:solidFill>
              </a:rPr>
              <a:t>Точный носитель</a:t>
            </a:r>
          </a:p>
          <a:p>
            <a:pPr algn="l">
              <a:defRPr sz="1275" b="0">
                <a:solidFill>
                  <a:srgbClr val="16335B"/>
                </a:solidFill>
              </a:defRPr>
            </a:pPr>
            <a:r>
              <a:rPr sz="1275" b="0">
                <a:solidFill>
                  <a:srgbClr val="16335B"/>
                </a:solidFill>
              </a:rPr>
              <a:t>Позитивный контроль</a:t>
            </a:r>
          </a:p>
          <a:p>
            <a:pPr algn="l">
              <a:defRPr sz="1275" b="0">
                <a:solidFill>
                  <a:srgbClr val="16335B"/>
                </a:solidFill>
              </a:defRPr>
            </a:pPr>
            <a:r>
              <a:rPr sz="1275" b="0">
                <a:solidFill>
                  <a:srgbClr val="16335B"/>
                </a:solidFill>
              </a:rPr>
              <a:t>Независимое воспроизведение</a:t>
            </a:r>
          </a:p>
        </p:txBody>
      </p:sp>
      <p:sp>
        <p:nvSpPr>
          <p:cNvPr id="16" name="consequence">
            <a:extLst>
              <a:ext uri="{FF2B5EF4-FFF2-40B4-BE49-F238E27FC236}">
                <a16:creationId xmlns:a16="http://schemas.microsoft.com/office/drawing/2014/main" id="{750E3729-32B4-49A3-9CB0-F35149F3DBD9}"/>
              </a:ext>
            </a:extLst>
          </p:cNvPr>
          <p:cNvSpPr>
            <a:spLocks noGrp="1"/>
          </p:cNvSpPr>
          <p:nvPr/>
        </p:nvSpPr>
        <p:spPr>
          <a:xfrm>
            <a:off x="8324850" y="2514600"/>
            <a:ext cx="3009900" cy="2209800"/>
          </a:xfrm>
          <a:prstGeom prst="roundRect">
            <a:avLst>
              <a:gd name="adj" fmla="val 5172"/>
            </a:avLst>
          </a:prstGeom>
          <a:solidFill>
            <a:srgbClr val="F2F4F7"/>
          </a:solidFill>
          <a:ln w="0">
            <a:noFill/>
            <a:prstDash val="solid"/>
          </a:ln>
        </p:spPr>
        <p:txBody>
          <a:bodyPr/>
          <a:lstStyle/>
          <a:p>
            <a:endParaRPr lang="ru-RU" dirty="0"/>
          </a:p>
          <a:p>
            <a:endParaRPr lang="ru-RU" dirty="0"/>
          </a:p>
          <a:p>
            <a:pPr>
              <a:defRPr sz="2175" b="1">
                <a:solidFill>
                  <a:srgbClr val="D92D20"/>
                </a:solidFill>
              </a:defRPr>
            </a:pPr>
            <a:r>
              <a:rPr lang="ru-RU" b="1" dirty="0">
                <a:solidFill>
                  <a:srgbClr val="D92D20"/>
                </a:solidFill>
              </a:rPr>
              <a:t>Если ошибка дешевле</a:t>
            </a:r>
          </a:p>
          <a:p>
            <a:pPr>
              <a:defRPr sz="2175" b="1">
                <a:solidFill>
                  <a:srgbClr val="D92D20"/>
                </a:solidFill>
              </a:defRPr>
            </a:pPr>
            <a:r>
              <a:rPr lang="ru-RU" b="1" dirty="0">
                <a:solidFill>
                  <a:srgbClr val="D92D20"/>
                </a:solidFill>
              </a:rPr>
              <a:t>правильного ответа,</a:t>
            </a:r>
          </a:p>
          <a:p>
            <a:pPr>
              <a:defRPr sz="2175" b="1">
                <a:solidFill>
                  <a:srgbClr val="D92D20"/>
                </a:solidFill>
              </a:defRPr>
            </a:pPr>
            <a:r>
              <a:rPr lang="ru-RU" b="1" dirty="0">
                <a:solidFill>
                  <a:srgbClr val="D92D20"/>
                </a:solidFill>
              </a:rPr>
              <a:t>её нельзя считать</a:t>
            </a:r>
          </a:p>
          <a:p>
            <a:pPr>
              <a:defRPr sz="2175" b="1">
                <a:solidFill>
                  <a:srgbClr val="D92D20"/>
                </a:solidFill>
              </a:defRPr>
            </a:pPr>
            <a:r>
              <a:rPr lang="ru-RU" b="1" dirty="0">
                <a:solidFill>
                  <a:srgbClr val="D92D20"/>
                </a:solidFill>
              </a:rPr>
              <a:t>случайностью.</a:t>
            </a:r>
          </a:p>
          <a:p>
            <a:endParaRPr lang="ru-RU" dirty="0"/>
          </a:p>
        </p:txBody>
      </p:sp>
      <p:sp>
        <p:nvSpPr>
          <p:cNvPr id="17" name="consequence-title">
            <a:extLst>
              <a:ext uri="{FF2B5EF4-FFF2-40B4-BE49-F238E27FC236}">
                <a16:creationId xmlns:a16="http://schemas.microsoft.com/office/drawing/2014/main" id="{2DC55460-472A-4F7E-8CB5-4AFCE122CC9A}"/>
              </a:ext>
            </a:extLst>
          </p:cNvPr>
          <p:cNvSpPr>
            <a:spLocks noGrp="1"/>
          </p:cNvSpPr>
          <p:nvPr/>
        </p:nvSpPr>
        <p:spPr>
          <a:xfrm>
            <a:off x="9153525" y="267652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01828"/>
                </a:solidFill>
              </a:defRPr>
            </a:pPr>
            <a:r>
              <a:rPr sz="1800" b="1" dirty="0" err="1">
                <a:solidFill>
                  <a:srgbClr val="101828"/>
                </a:solidFill>
              </a:rPr>
              <a:t>Следствие</a:t>
            </a:r>
            <a:endParaRPr sz="1800" b="1" dirty="0">
              <a:solidFill>
                <a:srgbClr val="101828"/>
              </a:solidFill>
            </a:endParaRPr>
          </a:p>
        </p:txBody>
      </p:sp>
      <p:sp>
        <p:nvSpPr>
          <p:cNvPr id="20" name="arrow-check">
            <a:extLst>
              <a:ext uri="{FF2B5EF4-FFF2-40B4-BE49-F238E27FC236}">
                <a16:creationId xmlns:a16="http://schemas.microsoft.com/office/drawing/2014/main" id="{5A54EE25-8100-B4DF-28F6-A6BAAA2359F3}"/>
              </a:ext>
            </a:extLst>
          </p:cNvPr>
          <p:cNvSpPr>
            <a:spLocks noGrp="1"/>
          </p:cNvSpPr>
          <p:nvPr/>
        </p:nvSpPr>
        <p:spPr>
          <a:xfrm flipV="1">
            <a:off x="2209800" y="2590800"/>
            <a:ext cx="2343150" cy="838200"/>
          </a:xfrm>
          <a:prstGeom prst="line">
            <a:avLst/>
          </a:prstGeom>
          <a:noFill/>
          <a:ln w="28575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56120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-rule-3">
            <a:extLst>
              <a:ext uri="{FF2B5EF4-FFF2-40B4-BE49-F238E27FC236}">
                <a16:creationId xmlns:a16="http://schemas.microsoft.com/office/drawing/2014/main" id="{E648D58B-C221-4A6C-9CDC-7B5C1913B942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1391900" cy="0"/>
          </a:xfrm>
          <a:prstGeom prst="line">
            <a:avLst/>
          </a:prstGeom>
          <a:noFill/>
          <a:ln w="9525">
            <a:solidFill>
              <a:srgbClr val="D0D5DD"/>
            </a:solidFill>
            <a:prstDash val="solid"/>
          </a:ln>
        </p:spPr>
      </p:sp>
      <p:sp>
        <p:nvSpPr>
          <p:cNvPr id="2" name="footer-title-3">
            <a:extLst>
              <a:ext uri="{FF2B5EF4-FFF2-40B4-BE49-F238E27FC236}">
                <a16:creationId xmlns:a16="http://schemas.microsoft.com/office/drawing/2014/main" id="{EAB56048-350C-43C2-AA06-EB2223C7F918}"/>
              </a:ext>
            </a:extLst>
          </p:cNvPr>
          <p:cNvSpPr>
            <a:spLocks noGrp="1"/>
          </p:cNvSpPr>
          <p:nvPr/>
        </p:nvSpPr>
        <p:spPr>
          <a:xfrm>
            <a:off x="400050" y="6505575"/>
            <a:ext cx="504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Что тяжелее всего даётся ИИ</a:t>
            </a:r>
          </a:p>
        </p:txBody>
      </p:sp>
      <p:sp>
        <p:nvSpPr>
          <p:cNvPr id="3" name="footer-number-3">
            <a:extLst>
              <a:ext uri="{FF2B5EF4-FFF2-40B4-BE49-F238E27FC236}">
                <a16:creationId xmlns:a16="http://schemas.microsoft.com/office/drawing/2014/main" id="{54194C8B-4B50-4792-901C-2F181902E251}"/>
              </a:ext>
            </a:extLst>
          </p:cNvPr>
          <p:cNvSpPr>
            <a:spLocks noGrp="1"/>
          </p:cNvSpPr>
          <p:nvPr/>
        </p:nvSpPr>
        <p:spPr>
          <a:xfrm>
            <a:off x="11277600" y="6505575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3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98A9EBAA-FEC0-4249-BA8F-2619C579FD89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В разработке тот же выбор: закрыть задачу сейчас или сделать систему лучше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8413870-D5B0-426B-AE8C-A8EEC73CCA2D}"/>
              </a:ext>
            </a:extLst>
          </p:cNvPr>
          <p:cNvSpPr>
            <a:spLocks noGrp="1"/>
          </p:cNvSpPr>
          <p:nvPr/>
        </p:nvSpPr>
        <p:spPr>
          <a:xfrm>
            <a:off x="400050" y="1362075"/>
            <a:ext cx="11391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475467"/>
                </a:solidFill>
              </a:defRPr>
            </a:pPr>
            <a:r>
              <a:rPr sz="1725" b="0" dirty="0" err="1">
                <a:solidFill>
                  <a:srgbClr val="475467"/>
                </a:solidFill>
              </a:rPr>
              <a:t>Костыль</a:t>
            </a:r>
            <a:r>
              <a:rPr sz="1725" b="0" dirty="0">
                <a:solidFill>
                  <a:srgbClr val="475467"/>
                </a:solidFill>
              </a:rPr>
              <a:t> </a:t>
            </a:r>
            <a:r>
              <a:rPr sz="1725" b="0" dirty="0" err="1">
                <a:solidFill>
                  <a:srgbClr val="475467"/>
                </a:solidFill>
              </a:rPr>
              <a:t>обычно</a:t>
            </a:r>
            <a:r>
              <a:rPr sz="1725" b="0" dirty="0">
                <a:solidFill>
                  <a:srgbClr val="475467"/>
                </a:solidFill>
              </a:rPr>
              <a:t> </a:t>
            </a:r>
            <a:r>
              <a:rPr sz="1725" b="0" dirty="0" err="1">
                <a:solidFill>
                  <a:srgbClr val="475467"/>
                </a:solidFill>
              </a:rPr>
              <a:t>короче</a:t>
            </a:r>
            <a:r>
              <a:rPr sz="1725" b="0" dirty="0">
                <a:solidFill>
                  <a:srgbClr val="475467"/>
                </a:solidFill>
              </a:rPr>
              <a:t>. </a:t>
            </a:r>
            <a:r>
              <a:rPr sz="1725" b="0" dirty="0" err="1">
                <a:solidFill>
                  <a:srgbClr val="475467"/>
                </a:solidFill>
              </a:rPr>
              <a:t>Архитектура</a:t>
            </a:r>
            <a:r>
              <a:rPr sz="1725" b="0" dirty="0">
                <a:solidFill>
                  <a:srgbClr val="475467"/>
                </a:solidFill>
              </a:rPr>
              <a:t> </a:t>
            </a:r>
            <a:r>
              <a:rPr sz="1725" b="0" dirty="0" err="1">
                <a:solidFill>
                  <a:srgbClr val="475467"/>
                </a:solidFill>
              </a:rPr>
              <a:t>требует</a:t>
            </a:r>
            <a:r>
              <a:rPr sz="1725" b="0" dirty="0">
                <a:solidFill>
                  <a:srgbClr val="475467"/>
                </a:solidFill>
              </a:rPr>
              <a:t> </a:t>
            </a:r>
            <a:r>
              <a:rPr sz="1725" b="0" dirty="0" err="1">
                <a:solidFill>
                  <a:srgbClr val="475467"/>
                </a:solidFill>
              </a:rPr>
              <a:t>думать</a:t>
            </a:r>
            <a:r>
              <a:rPr sz="1725" b="0" dirty="0">
                <a:solidFill>
                  <a:srgbClr val="475467"/>
                </a:solidFill>
              </a:rPr>
              <a:t> о </a:t>
            </a:r>
            <a:r>
              <a:rPr sz="1725" b="0" dirty="0" err="1">
                <a:solidFill>
                  <a:srgbClr val="475467"/>
                </a:solidFill>
              </a:rPr>
              <a:t>следующей</a:t>
            </a:r>
            <a:r>
              <a:rPr sz="1725" b="0" dirty="0">
                <a:solidFill>
                  <a:srgbClr val="475467"/>
                </a:solidFill>
              </a:rPr>
              <a:t> </a:t>
            </a:r>
            <a:r>
              <a:rPr sz="1725" b="0" dirty="0" err="1">
                <a:solidFill>
                  <a:srgbClr val="475467"/>
                </a:solidFill>
              </a:rPr>
              <a:t>задаче</a:t>
            </a:r>
            <a:r>
              <a:rPr sz="1725" b="0" dirty="0">
                <a:solidFill>
                  <a:srgbClr val="475467"/>
                </a:solidFill>
              </a:rPr>
              <a:t>, </a:t>
            </a:r>
            <a:r>
              <a:rPr sz="1725" b="0" dirty="0" err="1">
                <a:solidFill>
                  <a:srgbClr val="475467"/>
                </a:solidFill>
              </a:rPr>
              <a:t>которой</a:t>
            </a:r>
            <a:r>
              <a:rPr sz="1725" b="0" dirty="0">
                <a:solidFill>
                  <a:srgbClr val="475467"/>
                </a:solidFill>
              </a:rPr>
              <a:t> в </a:t>
            </a:r>
            <a:r>
              <a:rPr sz="1725" b="0" dirty="0" err="1">
                <a:solidFill>
                  <a:srgbClr val="475467"/>
                </a:solidFill>
              </a:rPr>
              <a:t>текущем</a:t>
            </a:r>
            <a:r>
              <a:rPr sz="1725" b="0" dirty="0">
                <a:solidFill>
                  <a:srgbClr val="475467"/>
                </a:solidFill>
              </a:rPr>
              <a:t> </a:t>
            </a:r>
            <a:r>
              <a:rPr sz="1725" b="0" dirty="0" err="1">
                <a:solidFill>
                  <a:srgbClr val="475467"/>
                </a:solidFill>
              </a:rPr>
              <a:t>запросе</a:t>
            </a:r>
            <a:r>
              <a:rPr sz="1725" b="0" dirty="0">
                <a:solidFill>
                  <a:srgbClr val="475467"/>
                </a:solidFill>
              </a:rPr>
              <a:t> </a:t>
            </a:r>
            <a:r>
              <a:rPr sz="1725" b="0" dirty="0" err="1">
                <a:solidFill>
                  <a:srgbClr val="475467"/>
                </a:solidFill>
              </a:rPr>
              <a:t>ещё</a:t>
            </a:r>
            <a:r>
              <a:rPr sz="1725" b="0" dirty="0">
                <a:solidFill>
                  <a:srgbClr val="475467"/>
                </a:solidFill>
              </a:rPr>
              <a:t> </a:t>
            </a:r>
            <a:r>
              <a:rPr sz="1725" b="0" dirty="0" err="1">
                <a:solidFill>
                  <a:srgbClr val="475467"/>
                </a:solidFill>
              </a:rPr>
              <a:t>нет</a:t>
            </a:r>
            <a:r>
              <a:rPr sz="1725" b="0" dirty="0">
                <a:solidFill>
                  <a:srgbClr val="475467"/>
                </a:solidFill>
              </a:rPr>
              <a:t>.</a:t>
            </a:r>
          </a:p>
        </p:txBody>
      </p:sp>
      <p:sp>
        <p:nvSpPr>
          <p:cNvPr id="6" name="short-term">
            <a:extLst>
              <a:ext uri="{FF2B5EF4-FFF2-40B4-BE49-F238E27FC236}">
                <a16:creationId xmlns:a16="http://schemas.microsoft.com/office/drawing/2014/main" id="{1E8A77F1-90D1-4BA0-BD35-C479CA3CCFE5}"/>
              </a:ext>
            </a:extLst>
          </p:cNvPr>
          <p:cNvSpPr>
            <a:spLocks noGrp="1"/>
          </p:cNvSpPr>
          <p:nvPr/>
        </p:nvSpPr>
        <p:spPr>
          <a:xfrm>
            <a:off x="495300" y="2057400"/>
            <a:ext cx="4648200" cy="3143250"/>
          </a:xfrm>
          <a:prstGeom prst="roundRect">
            <a:avLst>
              <a:gd name="adj" fmla="val 3636"/>
            </a:avLst>
          </a:prstGeom>
          <a:solidFill>
            <a:srgbClr val="FDECC8"/>
          </a:solidFill>
          <a:ln w="9525">
            <a:solidFill>
              <a:srgbClr val="E9B949"/>
            </a:solidFill>
            <a:prstDash val="solid"/>
          </a:ln>
        </p:spPr>
      </p:sp>
      <p:sp>
        <p:nvSpPr>
          <p:cNvPr id="7" name="short-title">
            <a:extLst>
              <a:ext uri="{FF2B5EF4-FFF2-40B4-BE49-F238E27FC236}">
                <a16:creationId xmlns:a16="http://schemas.microsoft.com/office/drawing/2014/main" id="{539F6668-CB54-4E1D-A543-FD1E12B4A259}"/>
              </a:ext>
            </a:extLst>
          </p:cNvPr>
          <p:cNvSpPr>
            <a:spLocks noGrp="1"/>
          </p:cNvSpPr>
          <p:nvPr/>
        </p:nvSpPr>
        <p:spPr>
          <a:xfrm>
            <a:off x="800100" y="2362200"/>
            <a:ext cx="371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75" b="1">
                <a:solidFill>
                  <a:srgbClr val="8A4B00"/>
                </a:solidFill>
              </a:defRPr>
            </a:pPr>
            <a:r>
              <a:rPr sz="2175" b="1">
                <a:solidFill>
                  <a:srgbClr val="8A4B00"/>
                </a:solidFill>
              </a:rPr>
              <a:t>Локальное решение</a:t>
            </a:r>
          </a:p>
        </p:txBody>
      </p:sp>
      <p:sp>
        <p:nvSpPr>
          <p:cNvPr id="8" name="short-bullets">
            <a:extLst>
              <a:ext uri="{FF2B5EF4-FFF2-40B4-BE49-F238E27FC236}">
                <a16:creationId xmlns:a16="http://schemas.microsoft.com/office/drawing/2014/main" id="{4BC449B4-D895-49D4-8907-F052A9D9B191}"/>
              </a:ext>
            </a:extLst>
          </p:cNvPr>
          <p:cNvSpPr>
            <a:spLocks noGrp="1"/>
          </p:cNvSpPr>
          <p:nvPr/>
        </p:nvSpPr>
        <p:spPr>
          <a:xfrm>
            <a:off x="800100" y="2990850"/>
            <a:ext cx="371475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0">
                <a:solidFill>
                  <a:srgbClr val="8A4B00"/>
                </a:solidFill>
              </a:defRPr>
            </a:pPr>
            <a:r>
              <a:rPr sz="1800" b="0">
                <a:solidFill>
                  <a:srgbClr val="8A4B00"/>
                </a:solidFill>
              </a:rPr>
              <a:t>• добавить ветку «только для этого случая»</a:t>
            </a:r>
          </a:p>
          <a:p>
            <a:pPr algn="l">
              <a:defRPr sz="1800" b="0">
                <a:solidFill>
                  <a:srgbClr val="8A4B00"/>
                </a:solidFill>
              </a:defRPr>
            </a:pPr>
            <a:r>
              <a:rPr sz="1800" b="0">
                <a:solidFill>
                  <a:srgbClr val="8A4B00"/>
                </a:solidFill>
              </a:rPr>
              <a:t>• скопировать похожий код</a:t>
            </a:r>
          </a:p>
          <a:p>
            <a:pPr algn="l">
              <a:defRPr sz="1800" b="0">
                <a:solidFill>
                  <a:srgbClr val="8A4B00"/>
                </a:solidFill>
              </a:defRPr>
            </a:pPr>
            <a:r>
              <a:rPr sz="1800" b="0">
                <a:solidFill>
                  <a:srgbClr val="8A4B00"/>
                </a:solidFill>
              </a:rPr>
              <a:t>• исправить симптом</a:t>
            </a:r>
          </a:p>
          <a:p>
            <a:pPr algn="l">
              <a:defRPr sz="1800" b="0">
                <a:solidFill>
                  <a:srgbClr val="8A4B00"/>
                </a:solidFill>
              </a:defRPr>
            </a:pPr>
            <a:r>
              <a:rPr sz="1800" b="0">
                <a:solidFill>
                  <a:srgbClr val="8A4B00"/>
                </a:solidFill>
              </a:rPr>
              <a:t>• не смотреть на соседние места</a:t>
            </a:r>
          </a:p>
        </p:txBody>
      </p:sp>
      <p:sp>
        <p:nvSpPr>
          <p:cNvPr id="9" name="short-outcome">
            <a:extLst>
              <a:ext uri="{FF2B5EF4-FFF2-40B4-BE49-F238E27FC236}">
                <a16:creationId xmlns:a16="http://schemas.microsoft.com/office/drawing/2014/main" id="{D99E7ABB-818A-4B83-A21C-98D9D7F04D17}"/>
              </a:ext>
            </a:extLst>
          </p:cNvPr>
          <p:cNvSpPr>
            <a:spLocks noGrp="1"/>
          </p:cNvSpPr>
          <p:nvPr/>
        </p:nvSpPr>
        <p:spPr>
          <a:xfrm>
            <a:off x="800100" y="462915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8A4B00"/>
                </a:solidFill>
              </a:defRPr>
            </a:pPr>
            <a:r>
              <a:rPr sz="1500" b="1">
                <a:solidFill>
                  <a:srgbClr val="8A4B00"/>
                </a:solidFill>
              </a:rPr>
              <a:t>Быстро проходит текущий тест</a:t>
            </a:r>
          </a:p>
        </p:txBody>
      </p:sp>
      <p:sp>
        <p:nvSpPr>
          <p:cNvPr id="10" name="long-term">
            <a:extLst>
              <a:ext uri="{FF2B5EF4-FFF2-40B4-BE49-F238E27FC236}">
                <a16:creationId xmlns:a16="http://schemas.microsoft.com/office/drawing/2014/main" id="{39A112AC-FB3D-418C-9441-8A743540AF7E}"/>
              </a:ext>
            </a:extLst>
          </p:cNvPr>
          <p:cNvSpPr>
            <a:spLocks noGrp="1"/>
          </p:cNvSpPr>
          <p:nvPr/>
        </p:nvSpPr>
        <p:spPr>
          <a:xfrm>
            <a:off x="7048500" y="2057400"/>
            <a:ext cx="4648200" cy="3143250"/>
          </a:xfrm>
          <a:prstGeom prst="roundRect">
            <a:avLst>
              <a:gd name="adj" fmla="val 3636"/>
            </a:avLst>
          </a:prstGeom>
          <a:solidFill>
            <a:srgbClr val="EAF5FB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1" name="long-title">
            <a:extLst>
              <a:ext uri="{FF2B5EF4-FFF2-40B4-BE49-F238E27FC236}">
                <a16:creationId xmlns:a16="http://schemas.microsoft.com/office/drawing/2014/main" id="{AA61EEAA-B049-4556-9259-85AD2924E859}"/>
              </a:ext>
            </a:extLst>
          </p:cNvPr>
          <p:cNvSpPr>
            <a:spLocks noGrp="1"/>
          </p:cNvSpPr>
          <p:nvPr/>
        </p:nvSpPr>
        <p:spPr>
          <a:xfrm>
            <a:off x="7353300" y="2362200"/>
            <a:ext cx="371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75" b="1">
                <a:solidFill>
                  <a:srgbClr val="16335B"/>
                </a:solidFill>
              </a:defRPr>
            </a:pPr>
            <a:r>
              <a:rPr sz="2175" b="1">
                <a:solidFill>
                  <a:srgbClr val="16335B"/>
                </a:solidFill>
              </a:rPr>
              <a:t>Решение класса</a:t>
            </a:r>
          </a:p>
        </p:txBody>
      </p:sp>
      <p:sp>
        <p:nvSpPr>
          <p:cNvPr id="12" name="long-bullets">
            <a:extLst>
              <a:ext uri="{FF2B5EF4-FFF2-40B4-BE49-F238E27FC236}">
                <a16:creationId xmlns:a16="http://schemas.microsoft.com/office/drawing/2014/main" id="{97B8DA92-2ECF-4A3A-B537-1E791A2DDF04}"/>
              </a:ext>
            </a:extLst>
          </p:cNvPr>
          <p:cNvSpPr>
            <a:spLocks noGrp="1"/>
          </p:cNvSpPr>
          <p:nvPr/>
        </p:nvSpPr>
        <p:spPr>
          <a:xfrm>
            <a:off x="7353300" y="2990850"/>
            <a:ext cx="371475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0">
                <a:solidFill>
                  <a:srgbClr val="16335B"/>
                </a:solidFill>
              </a:defRPr>
            </a:pPr>
            <a:r>
              <a:rPr sz="1800" b="0">
                <a:solidFill>
                  <a:srgbClr val="16335B"/>
                </a:solidFill>
              </a:rPr>
              <a:t>• найти повторяющийся принцип</a:t>
            </a:r>
          </a:p>
          <a:p>
            <a:pPr algn="l">
              <a:defRPr sz="1800" b="0">
                <a:solidFill>
                  <a:srgbClr val="16335B"/>
                </a:solidFill>
              </a:defRPr>
            </a:pPr>
            <a:r>
              <a:rPr sz="1800" b="0">
                <a:solidFill>
                  <a:srgbClr val="16335B"/>
                </a:solidFill>
              </a:rPr>
              <a:t>• вынести общую логику</a:t>
            </a:r>
          </a:p>
          <a:p>
            <a:pPr algn="l">
              <a:defRPr sz="1800" b="0">
                <a:solidFill>
                  <a:srgbClr val="16335B"/>
                </a:solidFill>
              </a:defRPr>
            </a:pPr>
            <a:r>
              <a:rPr sz="1800" b="0">
                <a:solidFill>
                  <a:srgbClr val="16335B"/>
                </a:solidFill>
              </a:rPr>
              <a:t>• проверить крайние случаи</a:t>
            </a:r>
          </a:p>
          <a:p>
            <a:pPr algn="l">
              <a:defRPr sz="1800" b="0">
                <a:solidFill>
                  <a:srgbClr val="16335B"/>
                </a:solidFill>
              </a:defRPr>
            </a:pPr>
            <a:r>
              <a:rPr sz="1800" b="0">
                <a:solidFill>
                  <a:srgbClr val="16335B"/>
                </a:solidFill>
              </a:rPr>
              <a:t>• оставить основание для развития</a:t>
            </a:r>
          </a:p>
        </p:txBody>
      </p:sp>
      <p:sp>
        <p:nvSpPr>
          <p:cNvPr id="13" name="long-outcome">
            <a:extLst>
              <a:ext uri="{FF2B5EF4-FFF2-40B4-BE49-F238E27FC236}">
                <a16:creationId xmlns:a16="http://schemas.microsoft.com/office/drawing/2014/main" id="{019E3F0F-3166-4A42-BDE7-106BE3DB2009}"/>
              </a:ext>
            </a:extLst>
          </p:cNvPr>
          <p:cNvSpPr>
            <a:spLocks noGrp="1"/>
          </p:cNvSpPr>
          <p:nvPr/>
        </p:nvSpPr>
        <p:spPr>
          <a:xfrm>
            <a:off x="7353300" y="4629150"/>
            <a:ext cx="3857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16335B"/>
                </a:solidFill>
              </a:defRPr>
            </a:pPr>
            <a:r>
              <a:rPr sz="1500" b="1">
                <a:solidFill>
                  <a:srgbClr val="16335B"/>
                </a:solidFill>
              </a:rPr>
              <a:t>Дороже сейчас — дешевле в следующих изменениях</a:t>
            </a:r>
          </a:p>
        </p:txBody>
      </p:sp>
      <p:sp>
        <p:nvSpPr>
          <p:cNvPr id="14" name="bottom-claim">
            <a:extLst>
              <a:ext uri="{FF2B5EF4-FFF2-40B4-BE49-F238E27FC236}">
                <a16:creationId xmlns:a16="http://schemas.microsoft.com/office/drawing/2014/main" id="{28EEAAA1-8864-4DC9-BDE6-26A73AF263C7}"/>
              </a:ext>
            </a:extLst>
          </p:cNvPr>
          <p:cNvSpPr>
            <a:spLocks noGrp="1"/>
          </p:cNvSpPr>
          <p:nvPr/>
        </p:nvSpPr>
        <p:spPr>
          <a:xfrm>
            <a:off x="762000" y="5676900"/>
            <a:ext cx="10572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ИИ стабильно не выбирает правую колонку, если её необходимость не задана задачей, тестом или независимым ревью.</a:t>
            </a:r>
          </a:p>
        </p:txBody>
      </p:sp>
    </p:spTree>
    <p:extLst>
      <p:ext uri="{BB962C8B-B14F-4D97-AF65-F5344CB8AC3E}">
        <p14:creationId xmlns:p14="http://schemas.microsoft.com/office/powerpoint/2010/main" val="2126417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ooter-rule-4">
            <a:extLst>
              <a:ext uri="{FF2B5EF4-FFF2-40B4-BE49-F238E27FC236}">
                <a16:creationId xmlns:a16="http://schemas.microsoft.com/office/drawing/2014/main" id="{96BDCCAB-45CC-462C-835B-58379C3A3C10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1391900" cy="0"/>
          </a:xfrm>
          <a:prstGeom prst="line">
            <a:avLst/>
          </a:prstGeom>
          <a:noFill/>
          <a:ln w="9525">
            <a:solidFill>
              <a:srgbClr val="D0D5DD"/>
            </a:solidFill>
            <a:prstDash val="solid"/>
          </a:ln>
        </p:spPr>
      </p:sp>
      <p:sp>
        <p:nvSpPr>
          <p:cNvPr id="2" name="footer-title-4">
            <a:extLst>
              <a:ext uri="{FF2B5EF4-FFF2-40B4-BE49-F238E27FC236}">
                <a16:creationId xmlns:a16="http://schemas.microsoft.com/office/drawing/2014/main" id="{65378F23-145D-4512-97B9-47AB88D715F6}"/>
              </a:ext>
            </a:extLst>
          </p:cNvPr>
          <p:cNvSpPr>
            <a:spLocks noGrp="1"/>
          </p:cNvSpPr>
          <p:nvPr/>
        </p:nvSpPr>
        <p:spPr>
          <a:xfrm>
            <a:off x="400050" y="6505575"/>
            <a:ext cx="504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Что тяжелее всего даётся ИИ</a:t>
            </a:r>
          </a:p>
        </p:txBody>
      </p:sp>
      <p:sp>
        <p:nvSpPr>
          <p:cNvPr id="3" name="footer-number-4">
            <a:extLst>
              <a:ext uri="{FF2B5EF4-FFF2-40B4-BE49-F238E27FC236}">
                <a16:creationId xmlns:a16="http://schemas.microsoft.com/office/drawing/2014/main" id="{32969AE1-7B17-4A4D-84CD-7290F5784D35}"/>
              </a:ext>
            </a:extLst>
          </p:cNvPr>
          <p:cNvSpPr>
            <a:spLocks noGrp="1"/>
          </p:cNvSpPr>
          <p:nvPr/>
        </p:nvSpPr>
        <p:spPr>
          <a:xfrm>
            <a:off x="11277600" y="6505575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4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F347DA36-4B1E-4C4B-B159-85BEDDE7AA5B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Самые трудные задачи — те, где надо не создать, а удостовериться</a:t>
            </a:r>
          </a:p>
        </p:txBody>
      </p:sp>
      <p:sp>
        <p:nvSpPr>
          <p:cNvPr id="5" name="error-card-0">
            <a:extLst>
              <a:ext uri="{FF2B5EF4-FFF2-40B4-BE49-F238E27FC236}">
                <a16:creationId xmlns:a16="http://schemas.microsoft.com/office/drawing/2014/main" id="{B5CD7F76-41C3-4573-B6E2-5C6E2519C01F}"/>
              </a:ext>
            </a:extLst>
          </p:cNvPr>
          <p:cNvSpPr>
            <a:spLocks noGrp="1"/>
          </p:cNvSpPr>
          <p:nvPr/>
        </p:nvSpPr>
        <p:spPr>
          <a:xfrm>
            <a:off x="495300" y="1581150"/>
            <a:ext cx="5219700" cy="1638300"/>
          </a:xfrm>
          <a:prstGeom prst="roundRect">
            <a:avLst>
              <a:gd name="adj" fmla="val 6977"/>
            </a:avLst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6" name="error-num-0">
            <a:extLst>
              <a:ext uri="{FF2B5EF4-FFF2-40B4-BE49-F238E27FC236}">
                <a16:creationId xmlns:a16="http://schemas.microsoft.com/office/drawing/2014/main" id="{A6ADA9F6-B44E-4FF3-BEAB-A48B4F3A8897}"/>
              </a:ext>
            </a:extLst>
          </p:cNvPr>
          <p:cNvSpPr>
            <a:spLocks noGrp="1"/>
          </p:cNvSpPr>
          <p:nvPr/>
        </p:nvSpPr>
        <p:spPr>
          <a:xfrm>
            <a:off x="723900" y="180975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7" name="error-title-0">
            <a:extLst>
              <a:ext uri="{FF2B5EF4-FFF2-40B4-BE49-F238E27FC236}">
                <a16:creationId xmlns:a16="http://schemas.microsoft.com/office/drawing/2014/main" id="{6EEAB9B1-1254-47E1-B65B-8432EC293CC1}"/>
              </a:ext>
            </a:extLst>
          </p:cNvPr>
          <p:cNvSpPr>
            <a:spLocks noGrp="1"/>
          </p:cNvSpPr>
          <p:nvPr/>
        </p:nvSpPr>
        <p:spPr>
          <a:xfrm>
            <a:off x="1371600" y="179070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101828"/>
                </a:solidFill>
              </a:defRPr>
            </a:pPr>
            <a:r>
              <a:rPr sz="2025" b="1">
                <a:solidFill>
                  <a:srgbClr val="101828"/>
                </a:solidFill>
              </a:rPr>
              <a:t>Отрицательные выводы</a:t>
            </a:r>
          </a:p>
        </p:txBody>
      </p:sp>
      <p:sp>
        <p:nvSpPr>
          <p:cNvPr id="8" name="error-body-0">
            <a:extLst>
              <a:ext uri="{FF2B5EF4-FFF2-40B4-BE49-F238E27FC236}">
                <a16:creationId xmlns:a16="http://schemas.microsoft.com/office/drawing/2014/main" id="{4E8DD6DA-DBAF-4E6D-B907-C118293A23FF}"/>
              </a:ext>
            </a:extLst>
          </p:cNvPr>
          <p:cNvSpPr>
            <a:spLocks noGrp="1"/>
          </p:cNvSpPr>
          <p:nvPr/>
        </p:nvSpPr>
        <p:spPr>
          <a:xfrm>
            <a:off x="1371600" y="2305050"/>
            <a:ext cx="39433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475467"/>
                </a:solidFill>
              </a:defRPr>
            </a:pPr>
            <a:r>
              <a:rPr sz="1500" b="0">
                <a:solidFill>
                  <a:srgbClr val="475467"/>
                </a:solidFill>
              </a:rPr>
              <a:t>«Нигде нет» — не доказательство, пока не проверен метод поиска.</a:t>
            </a:r>
          </a:p>
        </p:txBody>
      </p:sp>
      <p:sp>
        <p:nvSpPr>
          <p:cNvPr id="9" name="error-card-1">
            <a:extLst>
              <a:ext uri="{FF2B5EF4-FFF2-40B4-BE49-F238E27FC236}">
                <a16:creationId xmlns:a16="http://schemas.microsoft.com/office/drawing/2014/main" id="{9D5F68C3-90F9-496B-AD42-88E684F694F9}"/>
              </a:ext>
            </a:extLst>
          </p:cNvPr>
          <p:cNvSpPr>
            <a:spLocks noGrp="1"/>
          </p:cNvSpPr>
          <p:nvPr/>
        </p:nvSpPr>
        <p:spPr>
          <a:xfrm>
            <a:off x="6191250" y="1581150"/>
            <a:ext cx="5219700" cy="1638300"/>
          </a:xfrm>
          <a:prstGeom prst="roundRect">
            <a:avLst>
              <a:gd name="adj" fmla="val 6977"/>
            </a:avLst>
          </a:prstGeom>
          <a:solidFill>
            <a:srgbClr val="F2F4F7"/>
          </a:solidFill>
          <a:ln w="0">
            <a:noFill/>
            <a:prstDash val="solid"/>
          </a:ln>
        </p:spPr>
      </p:sp>
      <p:sp>
        <p:nvSpPr>
          <p:cNvPr id="10" name="error-num-1">
            <a:extLst>
              <a:ext uri="{FF2B5EF4-FFF2-40B4-BE49-F238E27FC236}">
                <a16:creationId xmlns:a16="http://schemas.microsoft.com/office/drawing/2014/main" id="{68AC7E7B-68A8-4F82-8235-F56C304137AE}"/>
              </a:ext>
            </a:extLst>
          </p:cNvPr>
          <p:cNvSpPr>
            <a:spLocks noGrp="1"/>
          </p:cNvSpPr>
          <p:nvPr/>
        </p:nvSpPr>
        <p:spPr>
          <a:xfrm>
            <a:off x="6419850" y="180975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1" name="error-title-1">
            <a:extLst>
              <a:ext uri="{FF2B5EF4-FFF2-40B4-BE49-F238E27FC236}">
                <a16:creationId xmlns:a16="http://schemas.microsoft.com/office/drawing/2014/main" id="{71FBDF0E-F23C-4DF9-9581-44441231C713}"/>
              </a:ext>
            </a:extLst>
          </p:cNvPr>
          <p:cNvSpPr>
            <a:spLocks noGrp="1"/>
          </p:cNvSpPr>
          <p:nvPr/>
        </p:nvSpPr>
        <p:spPr>
          <a:xfrm>
            <a:off x="7067550" y="179070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101828"/>
                </a:solidFill>
              </a:defRPr>
            </a:pPr>
            <a:r>
              <a:rPr sz="2025" b="1">
                <a:solidFill>
                  <a:srgbClr val="101828"/>
                </a:solidFill>
              </a:rPr>
              <a:t>Независимая проверка</a:t>
            </a:r>
          </a:p>
        </p:txBody>
      </p:sp>
      <p:sp>
        <p:nvSpPr>
          <p:cNvPr id="12" name="error-body-1">
            <a:extLst>
              <a:ext uri="{FF2B5EF4-FFF2-40B4-BE49-F238E27FC236}">
                <a16:creationId xmlns:a16="http://schemas.microsoft.com/office/drawing/2014/main" id="{60C6FB6B-99EA-4F5B-ACA8-3B6640063A1B}"/>
              </a:ext>
            </a:extLst>
          </p:cNvPr>
          <p:cNvSpPr>
            <a:spLocks noGrp="1"/>
          </p:cNvSpPr>
          <p:nvPr/>
        </p:nvSpPr>
        <p:spPr>
          <a:xfrm>
            <a:off x="7067550" y="2305050"/>
            <a:ext cx="39433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475467"/>
                </a:solidFill>
              </a:defRPr>
            </a:pPr>
            <a:r>
              <a:rPr sz="1500" b="0">
                <a:solidFill>
                  <a:srgbClr val="475467"/>
                </a:solidFill>
              </a:rPr>
              <a:t>Отчёт исполнителя не заменяет собственный запуск или второй источник.</a:t>
            </a:r>
          </a:p>
        </p:txBody>
      </p:sp>
      <p:sp>
        <p:nvSpPr>
          <p:cNvPr id="13" name="error-card-2">
            <a:extLst>
              <a:ext uri="{FF2B5EF4-FFF2-40B4-BE49-F238E27FC236}">
                <a16:creationId xmlns:a16="http://schemas.microsoft.com/office/drawing/2014/main" id="{ACEBD8D5-32D6-4DC2-A654-B8908606E991}"/>
              </a:ext>
            </a:extLst>
          </p:cNvPr>
          <p:cNvSpPr>
            <a:spLocks noGrp="1"/>
          </p:cNvSpPr>
          <p:nvPr/>
        </p:nvSpPr>
        <p:spPr>
          <a:xfrm>
            <a:off x="495300" y="3657600"/>
            <a:ext cx="5219700" cy="1638300"/>
          </a:xfrm>
          <a:prstGeom prst="roundRect">
            <a:avLst>
              <a:gd name="adj" fmla="val 6977"/>
            </a:avLst>
          </a:prstGeom>
          <a:solidFill>
            <a:srgbClr val="F2F4F7"/>
          </a:solidFill>
          <a:ln w="0">
            <a:noFill/>
            <a:prstDash val="solid"/>
          </a:ln>
        </p:spPr>
      </p:sp>
      <p:sp>
        <p:nvSpPr>
          <p:cNvPr id="14" name="error-num-2">
            <a:extLst>
              <a:ext uri="{FF2B5EF4-FFF2-40B4-BE49-F238E27FC236}">
                <a16:creationId xmlns:a16="http://schemas.microsoft.com/office/drawing/2014/main" id="{F3EB3D31-5D46-414E-958C-8DA93CCEC478}"/>
              </a:ext>
            </a:extLst>
          </p:cNvPr>
          <p:cNvSpPr>
            <a:spLocks noGrp="1"/>
          </p:cNvSpPr>
          <p:nvPr/>
        </p:nvSpPr>
        <p:spPr>
          <a:xfrm>
            <a:off x="723900" y="388620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5" name="error-title-2">
            <a:extLst>
              <a:ext uri="{FF2B5EF4-FFF2-40B4-BE49-F238E27FC236}">
                <a16:creationId xmlns:a16="http://schemas.microsoft.com/office/drawing/2014/main" id="{A72A968C-8792-4196-BF2F-7617F75E4FB8}"/>
              </a:ext>
            </a:extLst>
          </p:cNvPr>
          <p:cNvSpPr>
            <a:spLocks noGrp="1"/>
          </p:cNvSpPr>
          <p:nvPr/>
        </p:nvSpPr>
        <p:spPr>
          <a:xfrm>
            <a:off x="1371600" y="386715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101828"/>
                </a:solidFill>
              </a:defRPr>
            </a:pPr>
            <a:r>
              <a:rPr sz="2025" b="1">
                <a:solidFill>
                  <a:srgbClr val="101828"/>
                </a:solidFill>
              </a:rPr>
              <a:t>Неполная постановка</a:t>
            </a:r>
          </a:p>
        </p:txBody>
      </p:sp>
      <p:sp>
        <p:nvSpPr>
          <p:cNvPr id="16" name="error-body-2">
            <a:extLst>
              <a:ext uri="{FF2B5EF4-FFF2-40B4-BE49-F238E27FC236}">
                <a16:creationId xmlns:a16="http://schemas.microsoft.com/office/drawing/2014/main" id="{F2CC2F27-92B2-41CA-A034-47E825F02907}"/>
              </a:ext>
            </a:extLst>
          </p:cNvPr>
          <p:cNvSpPr>
            <a:spLocks noGrp="1"/>
          </p:cNvSpPr>
          <p:nvPr/>
        </p:nvSpPr>
        <p:spPr>
          <a:xfrm>
            <a:off x="1371600" y="4381500"/>
            <a:ext cx="39433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475467"/>
                </a:solidFill>
              </a:defRPr>
            </a:pPr>
            <a:r>
              <a:rPr sz="1500" b="0">
                <a:solidFill>
                  <a:srgbClr val="475467"/>
                </a:solidFill>
              </a:rPr>
              <a:t>Нужно вернуть развилку пользователю, а не тихо решить её за него.</a:t>
            </a:r>
          </a:p>
        </p:txBody>
      </p:sp>
      <p:sp>
        <p:nvSpPr>
          <p:cNvPr id="17" name="error-card-3">
            <a:extLst>
              <a:ext uri="{FF2B5EF4-FFF2-40B4-BE49-F238E27FC236}">
                <a16:creationId xmlns:a16="http://schemas.microsoft.com/office/drawing/2014/main" id="{4FB0B66B-9867-4FB4-9CDB-976B2014F751}"/>
              </a:ext>
            </a:extLst>
          </p:cNvPr>
          <p:cNvSpPr>
            <a:spLocks noGrp="1"/>
          </p:cNvSpPr>
          <p:nvPr/>
        </p:nvSpPr>
        <p:spPr>
          <a:xfrm>
            <a:off x="6191250" y="3657600"/>
            <a:ext cx="5219700" cy="1638300"/>
          </a:xfrm>
          <a:prstGeom prst="roundRect">
            <a:avLst>
              <a:gd name="adj" fmla="val 6977"/>
            </a:avLst>
          </a:prstGeom>
          <a:solidFill>
            <a:srgbClr val="F2F4F7"/>
          </a:solidFill>
          <a:ln w="0">
            <a:noFill/>
            <a:prstDash val="solid"/>
          </a:ln>
        </p:spPr>
      </p:sp>
      <p:sp>
        <p:nvSpPr>
          <p:cNvPr id="18" name="error-num-3">
            <a:extLst>
              <a:ext uri="{FF2B5EF4-FFF2-40B4-BE49-F238E27FC236}">
                <a16:creationId xmlns:a16="http://schemas.microsoft.com/office/drawing/2014/main" id="{95DDD362-FE7C-407C-B32B-8DD7B54245AC}"/>
              </a:ext>
            </a:extLst>
          </p:cNvPr>
          <p:cNvSpPr>
            <a:spLocks noGrp="1"/>
          </p:cNvSpPr>
          <p:nvPr/>
        </p:nvSpPr>
        <p:spPr>
          <a:xfrm>
            <a:off x="6419850" y="388620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9" name="error-title-3">
            <a:extLst>
              <a:ext uri="{FF2B5EF4-FFF2-40B4-BE49-F238E27FC236}">
                <a16:creationId xmlns:a16="http://schemas.microsoft.com/office/drawing/2014/main" id="{F91FE6A3-F709-428D-8803-9AF02A56EAC9}"/>
              </a:ext>
            </a:extLst>
          </p:cNvPr>
          <p:cNvSpPr>
            <a:spLocks noGrp="1"/>
          </p:cNvSpPr>
          <p:nvPr/>
        </p:nvSpPr>
        <p:spPr>
          <a:xfrm>
            <a:off x="7067550" y="386715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101828"/>
                </a:solidFill>
              </a:defRPr>
            </a:pPr>
            <a:r>
              <a:rPr sz="2025" b="1">
                <a:solidFill>
                  <a:srgbClr val="101828"/>
                </a:solidFill>
              </a:rPr>
              <a:t>Скрытая цена ошибки</a:t>
            </a:r>
          </a:p>
        </p:txBody>
      </p:sp>
      <p:sp>
        <p:nvSpPr>
          <p:cNvPr id="20" name="error-body-3">
            <a:extLst>
              <a:ext uri="{FF2B5EF4-FFF2-40B4-BE49-F238E27FC236}">
                <a16:creationId xmlns:a16="http://schemas.microsoft.com/office/drawing/2014/main" id="{B86C2B40-5A1E-4890-AA8E-462F6C82F288}"/>
              </a:ext>
            </a:extLst>
          </p:cNvPr>
          <p:cNvSpPr>
            <a:spLocks noGrp="1"/>
          </p:cNvSpPr>
          <p:nvPr/>
        </p:nvSpPr>
        <p:spPr>
          <a:xfrm>
            <a:off x="7067550" y="4381500"/>
            <a:ext cx="39433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475467"/>
                </a:solidFill>
              </a:defRPr>
            </a:pPr>
            <a:r>
              <a:rPr sz="1500" b="0">
                <a:solidFill>
                  <a:srgbClr val="475467"/>
                </a:solidFill>
              </a:rPr>
              <a:t>Деньги, данные и безопасность не прощают правдоподобных допущений.</a:t>
            </a:r>
          </a:p>
        </p:txBody>
      </p:sp>
      <p:sp>
        <p:nvSpPr>
          <p:cNvPr id="21" name="bottom-claim">
            <a:extLst>
              <a:ext uri="{FF2B5EF4-FFF2-40B4-BE49-F238E27FC236}">
                <a16:creationId xmlns:a16="http://schemas.microsoft.com/office/drawing/2014/main" id="{9B357C95-2207-4685-B74F-D97C2B40E243}"/>
              </a:ext>
            </a:extLst>
          </p:cNvPr>
          <p:cNvSpPr>
            <a:spLocks noGrp="1"/>
          </p:cNvSpPr>
          <p:nvPr/>
        </p:nvSpPr>
        <p:spPr>
          <a:xfrm>
            <a:off x="857250" y="5772150"/>
            <a:ext cx="1038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725" b="1">
                <a:solidFill>
                  <a:srgbClr val="16335B"/>
                </a:solidFill>
              </a:defRPr>
            </a:pPr>
            <a:r>
              <a:rPr sz="1725" b="1">
                <a:solidFill>
                  <a:srgbClr val="16335B"/>
                </a:solidFill>
              </a:rPr>
              <a:t>Общее свойство: правильный ответ требует дополнительного действия, а ошибочный уже кажется достаточным.</a:t>
            </a:r>
          </a:p>
        </p:txBody>
      </p:sp>
    </p:spTree>
    <p:extLst>
      <p:ext uri="{BB962C8B-B14F-4D97-AF65-F5344CB8AC3E}">
        <p14:creationId xmlns:p14="http://schemas.microsoft.com/office/powerpoint/2010/main" val="1598004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ED4971-BA9A-F22D-6BE4-DE8E02B75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ooter-rule-4">
            <a:extLst>
              <a:ext uri="{FF2B5EF4-FFF2-40B4-BE49-F238E27FC236}">
                <a16:creationId xmlns:a16="http://schemas.microsoft.com/office/drawing/2014/main" id="{41AD3CF1-DDC2-AB84-F851-95302E0BB662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1391900" cy="0"/>
          </a:xfrm>
          <a:prstGeom prst="line">
            <a:avLst/>
          </a:prstGeom>
          <a:noFill/>
          <a:ln w="9525">
            <a:solidFill>
              <a:srgbClr val="D0D5DD"/>
            </a:solidFill>
            <a:prstDash val="solid"/>
          </a:ln>
        </p:spPr>
      </p:sp>
      <p:sp>
        <p:nvSpPr>
          <p:cNvPr id="2" name="footer-title-4">
            <a:extLst>
              <a:ext uri="{FF2B5EF4-FFF2-40B4-BE49-F238E27FC236}">
                <a16:creationId xmlns:a16="http://schemas.microsoft.com/office/drawing/2014/main" id="{F402C1C0-9E6E-9B97-F26F-F013398154FE}"/>
              </a:ext>
            </a:extLst>
          </p:cNvPr>
          <p:cNvSpPr>
            <a:spLocks noGrp="1"/>
          </p:cNvSpPr>
          <p:nvPr/>
        </p:nvSpPr>
        <p:spPr>
          <a:xfrm>
            <a:off x="400050" y="6505575"/>
            <a:ext cx="504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Что тяжелее всего даётся ИИ</a:t>
            </a:r>
          </a:p>
        </p:txBody>
      </p:sp>
      <p:sp>
        <p:nvSpPr>
          <p:cNvPr id="3" name="footer-number-4">
            <a:extLst>
              <a:ext uri="{FF2B5EF4-FFF2-40B4-BE49-F238E27FC236}">
                <a16:creationId xmlns:a16="http://schemas.microsoft.com/office/drawing/2014/main" id="{0C3923FD-6947-9653-4F06-5842D379E539}"/>
              </a:ext>
            </a:extLst>
          </p:cNvPr>
          <p:cNvSpPr>
            <a:spLocks noGrp="1"/>
          </p:cNvSpPr>
          <p:nvPr/>
        </p:nvSpPr>
        <p:spPr>
          <a:xfrm>
            <a:off x="11277600" y="6505575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4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4ECEFB43-2098-E948-9E4E-C96C4A3FDC9C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850" b="1">
                <a:solidFill>
                  <a:srgbClr val="101828"/>
                </a:solidFill>
              </a:defRPr>
            </a:pPr>
            <a:r>
              <a:rPr lang="ru-RU" sz="2850" b="1" dirty="0">
                <a:solidFill>
                  <a:srgbClr val="101828"/>
                </a:solidFill>
              </a:rPr>
              <a:t>Лучше всего ИИ работает там где есть конкретика</a:t>
            </a:r>
            <a:endParaRPr sz="2850" b="1" dirty="0">
              <a:solidFill>
                <a:srgbClr val="101828"/>
              </a:solidFill>
            </a:endParaRPr>
          </a:p>
        </p:txBody>
      </p:sp>
      <p:sp>
        <p:nvSpPr>
          <p:cNvPr id="5" name="error-card-0">
            <a:extLst>
              <a:ext uri="{FF2B5EF4-FFF2-40B4-BE49-F238E27FC236}">
                <a16:creationId xmlns:a16="http://schemas.microsoft.com/office/drawing/2014/main" id="{80CC18BE-B296-7070-B5C1-B7F9A7F87834}"/>
              </a:ext>
            </a:extLst>
          </p:cNvPr>
          <p:cNvSpPr>
            <a:spLocks noGrp="1"/>
          </p:cNvSpPr>
          <p:nvPr/>
        </p:nvSpPr>
        <p:spPr>
          <a:xfrm>
            <a:off x="495300" y="1581150"/>
            <a:ext cx="5219700" cy="1638300"/>
          </a:xfrm>
          <a:prstGeom prst="roundRect">
            <a:avLst>
              <a:gd name="adj" fmla="val 6977"/>
            </a:avLst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6" name="error-num-0">
            <a:extLst>
              <a:ext uri="{FF2B5EF4-FFF2-40B4-BE49-F238E27FC236}">
                <a16:creationId xmlns:a16="http://schemas.microsoft.com/office/drawing/2014/main" id="{E9FE9271-E882-277F-97E8-3E38333BFF09}"/>
              </a:ext>
            </a:extLst>
          </p:cNvPr>
          <p:cNvSpPr>
            <a:spLocks noGrp="1"/>
          </p:cNvSpPr>
          <p:nvPr/>
        </p:nvSpPr>
        <p:spPr>
          <a:xfrm>
            <a:off x="723900" y="180975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7" name="error-title-0">
            <a:extLst>
              <a:ext uri="{FF2B5EF4-FFF2-40B4-BE49-F238E27FC236}">
                <a16:creationId xmlns:a16="http://schemas.microsoft.com/office/drawing/2014/main" id="{E5932154-7ECC-E7F1-6A47-246B3D21A285}"/>
              </a:ext>
            </a:extLst>
          </p:cNvPr>
          <p:cNvSpPr>
            <a:spLocks noGrp="1"/>
          </p:cNvSpPr>
          <p:nvPr/>
        </p:nvSpPr>
        <p:spPr>
          <a:xfrm>
            <a:off x="1371600" y="179070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101828"/>
                </a:solidFill>
              </a:defRPr>
            </a:pPr>
            <a:r>
              <a:rPr lang="ru-RU" sz="2025" b="1" dirty="0">
                <a:solidFill>
                  <a:srgbClr val="101828"/>
                </a:solidFill>
              </a:rPr>
              <a:t>Хорошо описанная задача</a:t>
            </a:r>
            <a:endParaRPr sz="2025" b="1" dirty="0">
              <a:solidFill>
                <a:srgbClr val="101828"/>
              </a:solidFill>
            </a:endParaRPr>
          </a:p>
        </p:txBody>
      </p:sp>
      <p:sp>
        <p:nvSpPr>
          <p:cNvPr id="8" name="error-body-0">
            <a:extLst>
              <a:ext uri="{FF2B5EF4-FFF2-40B4-BE49-F238E27FC236}">
                <a16:creationId xmlns:a16="http://schemas.microsoft.com/office/drawing/2014/main" id="{C100290E-3C0C-DB52-C59B-8EBAA483E96C}"/>
              </a:ext>
            </a:extLst>
          </p:cNvPr>
          <p:cNvSpPr>
            <a:spLocks noGrp="1"/>
          </p:cNvSpPr>
          <p:nvPr/>
        </p:nvSpPr>
        <p:spPr>
          <a:xfrm>
            <a:off x="1371600" y="2305050"/>
            <a:ext cx="3943350" cy="7506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475467"/>
                </a:solidFill>
              </a:defRPr>
            </a:pPr>
            <a:r>
              <a:rPr lang="ru-RU" sz="1500" b="0" dirty="0">
                <a:solidFill>
                  <a:srgbClr val="475467"/>
                </a:solidFill>
              </a:rPr>
              <a:t>Есть цели и критерии приёмки, можно запустить стенд и самому ИИ проверить работает или нет</a:t>
            </a:r>
            <a:endParaRPr sz="1500" b="0" dirty="0">
              <a:solidFill>
                <a:srgbClr val="475467"/>
              </a:solidFill>
            </a:endParaRPr>
          </a:p>
        </p:txBody>
      </p:sp>
      <p:sp>
        <p:nvSpPr>
          <p:cNvPr id="9" name="error-card-1">
            <a:extLst>
              <a:ext uri="{FF2B5EF4-FFF2-40B4-BE49-F238E27FC236}">
                <a16:creationId xmlns:a16="http://schemas.microsoft.com/office/drawing/2014/main" id="{B49A308A-11FC-BE0F-9AF4-7019B30C9EC8}"/>
              </a:ext>
            </a:extLst>
          </p:cNvPr>
          <p:cNvSpPr>
            <a:spLocks noGrp="1"/>
          </p:cNvSpPr>
          <p:nvPr/>
        </p:nvSpPr>
        <p:spPr>
          <a:xfrm>
            <a:off x="6191250" y="1581150"/>
            <a:ext cx="5219700" cy="1638300"/>
          </a:xfrm>
          <a:prstGeom prst="roundRect">
            <a:avLst>
              <a:gd name="adj" fmla="val 6977"/>
            </a:avLst>
          </a:prstGeom>
          <a:solidFill>
            <a:srgbClr val="F2F4F7"/>
          </a:solidFill>
          <a:ln w="0">
            <a:noFill/>
            <a:prstDash val="solid"/>
          </a:ln>
        </p:spPr>
      </p:sp>
      <p:sp>
        <p:nvSpPr>
          <p:cNvPr id="10" name="error-num-1">
            <a:extLst>
              <a:ext uri="{FF2B5EF4-FFF2-40B4-BE49-F238E27FC236}">
                <a16:creationId xmlns:a16="http://schemas.microsoft.com/office/drawing/2014/main" id="{C937AD12-AB4B-804B-71A9-3642E9BBCF24}"/>
              </a:ext>
            </a:extLst>
          </p:cNvPr>
          <p:cNvSpPr>
            <a:spLocks noGrp="1"/>
          </p:cNvSpPr>
          <p:nvPr/>
        </p:nvSpPr>
        <p:spPr>
          <a:xfrm>
            <a:off x="6419850" y="180975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1" name="error-title-1">
            <a:extLst>
              <a:ext uri="{FF2B5EF4-FFF2-40B4-BE49-F238E27FC236}">
                <a16:creationId xmlns:a16="http://schemas.microsoft.com/office/drawing/2014/main" id="{D6300DE2-96F6-6550-B1B5-3F8C7B3B8D32}"/>
              </a:ext>
            </a:extLst>
          </p:cNvPr>
          <p:cNvSpPr>
            <a:spLocks noGrp="1"/>
          </p:cNvSpPr>
          <p:nvPr/>
        </p:nvSpPr>
        <p:spPr>
          <a:xfrm>
            <a:off x="7067550" y="179070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101828"/>
                </a:solidFill>
              </a:defRPr>
            </a:pPr>
            <a:r>
              <a:rPr lang="ru-RU" sz="2025" b="1" dirty="0">
                <a:solidFill>
                  <a:srgbClr val="101828"/>
                </a:solidFill>
              </a:rPr>
              <a:t>Чётко определяемый результат</a:t>
            </a:r>
            <a:endParaRPr sz="2025" b="1" dirty="0">
              <a:solidFill>
                <a:srgbClr val="101828"/>
              </a:solidFill>
            </a:endParaRPr>
          </a:p>
        </p:txBody>
      </p:sp>
      <p:sp>
        <p:nvSpPr>
          <p:cNvPr id="12" name="error-body-1">
            <a:extLst>
              <a:ext uri="{FF2B5EF4-FFF2-40B4-BE49-F238E27FC236}">
                <a16:creationId xmlns:a16="http://schemas.microsoft.com/office/drawing/2014/main" id="{56A9F761-19E7-6ECB-C6CE-3C937B1A8C8D}"/>
              </a:ext>
            </a:extLst>
          </p:cNvPr>
          <p:cNvSpPr>
            <a:spLocks noGrp="1"/>
          </p:cNvSpPr>
          <p:nvPr/>
        </p:nvSpPr>
        <p:spPr>
          <a:xfrm>
            <a:off x="7029450" y="2171700"/>
            <a:ext cx="39433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475467"/>
                </a:solidFill>
              </a:defRPr>
            </a:pPr>
            <a:r>
              <a:rPr lang="ru-RU" sz="1500" b="0" dirty="0">
                <a:solidFill>
                  <a:srgbClr val="475467"/>
                </a:solidFill>
              </a:rPr>
              <a:t>Если в конце действия чётко можно сказать правильно или нет (например выиграл или проиграл в го), то ИИ со временем найдет оптимальный способ</a:t>
            </a:r>
            <a:endParaRPr sz="1500" b="0" dirty="0">
              <a:solidFill>
                <a:srgbClr val="475467"/>
              </a:solidFill>
            </a:endParaRPr>
          </a:p>
        </p:txBody>
      </p:sp>
      <p:sp>
        <p:nvSpPr>
          <p:cNvPr id="13" name="error-card-2">
            <a:extLst>
              <a:ext uri="{FF2B5EF4-FFF2-40B4-BE49-F238E27FC236}">
                <a16:creationId xmlns:a16="http://schemas.microsoft.com/office/drawing/2014/main" id="{83C9AEE8-1A18-CCEA-8884-04020330BE9B}"/>
              </a:ext>
            </a:extLst>
          </p:cNvPr>
          <p:cNvSpPr>
            <a:spLocks noGrp="1"/>
          </p:cNvSpPr>
          <p:nvPr/>
        </p:nvSpPr>
        <p:spPr>
          <a:xfrm>
            <a:off x="495300" y="3657600"/>
            <a:ext cx="5219700" cy="1638300"/>
          </a:xfrm>
          <a:prstGeom prst="roundRect">
            <a:avLst>
              <a:gd name="adj" fmla="val 6977"/>
            </a:avLst>
          </a:prstGeom>
          <a:solidFill>
            <a:srgbClr val="F2F4F7"/>
          </a:solidFill>
          <a:ln w="0">
            <a:noFill/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4" name="error-num-2">
            <a:extLst>
              <a:ext uri="{FF2B5EF4-FFF2-40B4-BE49-F238E27FC236}">
                <a16:creationId xmlns:a16="http://schemas.microsoft.com/office/drawing/2014/main" id="{7F4DC20F-0517-C57E-9EC8-E7D0C18958DA}"/>
              </a:ext>
            </a:extLst>
          </p:cNvPr>
          <p:cNvSpPr>
            <a:spLocks noGrp="1"/>
          </p:cNvSpPr>
          <p:nvPr/>
        </p:nvSpPr>
        <p:spPr>
          <a:xfrm>
            <a:off x="723900" y="388620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5" name="error-title-2">
            <a:extLst>
              <a:ext uri="{FF2B5EF4-FFF2-40B4-BE49-F238E27FC236}">
                <a16:creationId xmlns:a16="http://schemas.microsoft.com/office/drawing/2014/main" id="{3E082F9E-D5FF-E97A-D1BA-19D85537A146}"/>
              </a:ext>
            </a:extLst>
          </p:cNvPr>
          <p:cNvSpPr>
            <a:spLocks noGrp="1"/>
          </p:cNvSpPr>
          <p:nvPr/>
        </p:nvSpPr>
        <p:spPr>
          <a:xfrm>
            <a:off x="1041722" y="3867150"/>
            <a:ext cx="4514126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101828"/>
                </a:solidFill>
              </a:defRPr>
            </a:pPr>
            <a:r>
              <a:rPr lang="ru-RU" sz="2025" b="1" dirty="0">
                <a:solidFill>
                  <a:srgbClr val="101828"/>
                </a:solidFill>
              </a:rPr>
              <a:t>Есть конкретные требования соблюдение которых надо проверить</a:t>
            </a:r>
            <a:endParaRPr sz="2025" b="1" dirty="0">
              <a:solidFill>
                <a:srgbClr val="101828"/>
              </a:solidFill>
            </a:endParaRPr>
          </a:p>
        </p:txBody>
      </p:sp>
      <p:sp>
        <p:nvSpPr>
          <p:cNvPr id="16" name="error-body-2">
            <a:extLst>
              <a:ext uri="{FF2B5EF4-FFF2-40B4-BE49-F238E27FC236}">
                <a16:creationId xmlns:a16="http://schemas.microsoft.com/office/drawing/2014/main" id="{CF132203-FC9F-6792-2C23-F0FF2C68CAA8}"/>
              </a:ext>
            </a:extLst>
          </p:cNvPr>
          <p:cNvSpPr>
            <a:spLocks noGrp="1"/>
          </p:cNvSpPr>
          <p:nvPr/>
        </p:nvSpPr>
        <p:spPr>
          <a:xfrm>
            <a:off x="1133475" y="4543425"/>
            <a:ext cx="39433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475467"/>
                </a:solidFill>
              </a:defRPr>
            </a:pPr>
            <a:r>
              <a:rPr lang="ru-RU" sz="1500" b="0" dirty="0">
                <a:solidFill>
                  <a:srgbClr val="475467"/>
                </a:solidFill>
              </a:rPr>
              <a:t>Законы и нормы по </a:t>
            </a:r>
            <a:r>
              <a:rPr lang="en-US" sz="1500" b="0" dirty="0">
                <a:solidFill>
                  <a:srgbClr val="475467"/>
                </a:solidFill>
              </a:rPr>
              <a:t>Accessibility</a:t>
            </a:r>
            <a:r>
              <a:rPr lang="ru-RU" sz="1500" b="0" dirty="0">
                <a:solidFill>
                  <a:srgbClr val="475467"/>
                </a:solidFill>
              </a:rPr>
              <a:t> чётко описывают как что должно проверяться и агент понимает что ему делать</a:t>
            </a:r>
            <a:endParaRPr sz="1500" b="0" dirty="0">
              <a:solidFill>
                <a:srgbClr val="475467"/>
              </a:solidFill>
            </a:endParaRPr>
          </a:p>
        </p:txBody>
      </p:sp>
      <p:sp>
        <p:nvSpPr>
          <p:cNvPr id="17" name="error-card-3">
            <a:extLst>
              <a:ext uri="{FF2B5EF4-FFF2-40B4-BE49-F238E27FC236}">
                <a16:creationId xmlns:a16="http://schemas.microsoft.com/office/drawing/2014/main" id="{1783452C-26F2-107C-24C0-0EF3C40E40C0}"/>
              </a:ext>
            </a:extLst>
          </p:cNvPr>
          <p:cNvSpPr>
            <a:spLocks noGrp="1"/>
          </p:cNvSpPr>
          <p:nvPr/>
        </p:nvSpPr>
        <p:spPr>
          <a:xfrm>
            <a:off x="6191250" y="3657600"/>
            <a:ext cx="5219700" cy="1638300"/>
          </a:xfrm>
          <a:prstGeom prst="roundRect">
            <a:avLst>
              <a:gd name="adj" fmla="val 6977"/>
            </a:avLst>
          </a:prstGeom>
          <a:solidFill>
            <a:srgbClr val="F2F4F7"/>
          </a:solidFill>
          <a:ln w="0">
            <a:noFill/>
            <a:prstDash val="solid"/>
          </a:ln>
        </p:spPr>
      </p:sp>
      <p:sp>
        <p:nvSpPr>
          <p:cNvPr id="18" name="error-num-3">
            <a:extLst>
              <a:ext uri="{FF2B5EF4-FFF2-40B4-BE49-F238E27FC236}">
                <a16:creationId xmlns:a16="http://schemas.microsoft.com/office/drawing/2014/main" id="{2B775FE0-C16B-BB0C-A8D8-68F1742CB652}"/>
              </a:ext>
            </a:extLst>
          </p:cNvPr>
          <p:cNvSpPr>
            <a:spLocks noGrp="1"/>
          </p:cNvSpPr>
          <p:nvPr/>
        </p:nvSpPr>
        <p:spPr>
          <a:xfrm>
            <a:off x="6419850" y="388620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9" name="error-title-3">
            <a:extLst>
              <a:ext uri="{FF2B5EF4-FFF2-40B4-BE49-F238E27FC236}">
                <a16:creationId xmlns:a16="http://schemas.microsoft.com/office/drawing/2014/main" id="{3778DC8C-BDF5-9652-77A1-026DE7B737D6}"/>
              </a:ext>
            </a:extLst>
          </p:cNvPr>
          <p:cNvSpPr>
            <a:spLocks noGrp="1"/>
          </p:cNvSpPr>
          <p:nvPr/>
        </p:nvSpPr>
        <p:spPr>
          <a:xfrm>
            <a:off x="7067550" y="3867150"/>
            <a:ext cx="421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101828"/>
                </a:solidFill>
              </a:defRPr>
            </a:pPr>
            <a:r>
              <a:rPr lang="ru-RU" sz="2025" b="1" dirty="0">
                <a:solidFill>
                  <a:srgbClr val="101828"/>
                </a:solidFill>
              </a:rPr>
              <a:t>Обработка большого числа данных</a:t>
            </a:r>
            <a:endParaRPr sz="2025" b="1" dirty="0">
              <a:solidFill>
                <a:srgbClr val="101828"/>
              </a:solidFill>
            </a:endParaRPr>
          </a:p>
        </p:txBody>
      </p:sp>
      <p:sp>
        <p:nvSpPr>
          <p:cNvPr id="20" name="error-body-3">
            <a:extLst>
              <a:ext uri="{FF2B5EF4-FFF2-40B4-BE49-F238E27FC236}">
                <a16:creationId xmlns:a16="http://schemas.microsoft.com/office/drawing/2014/main" id="{99471DFE-347C-B53E-8C9B-0F38761C5753}"/>
              </a:ext>
            </a:extLst>
          </p:cNvPr>
          <p:cNvSpPr>
            <a:spLocks noGrp="1"/>
          </p:cNvSpPr>
          <p:nvPr/>
        </p:nvSpPr>
        <p:spPr>
          <a:xfrm>
            <a:off x="7067550" y="4381500"/>
            <a:ext cx="39433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475467"/>
                </a:solidFill>
              </a:defRPr>
            </a:pPr>
            <a:r>
              <a:rPr lang="ru-RU" sz="1500" b="0" dirty="0">
                <a:solidFill>
                  <a:srgbClr val="475467"/>
                </a:solidFill>
              </a:rPr>
              <a:t>Много больших репозиториев, много разрозненных статей и записей митингов, всё это ИИ легко обработает и упорядочит</a:t>
            </a:r>
            <a:endParaRPr sz="1500" b="0" dirty="0">
              <a:solidFill>
                <a:srgbClr val="475467"/>
              </a:solidFill>
            </a:endParaRPr>
          </a:p>
        </p:txBody>
      </p:sp>
      <p:sp>
        <p:nvSpPr>
          <p:cNvPr id="21" name="bottom-claim">
            <a:extLst>
              <a:ext uri="{FF2B5EF4-FFF2-40B4-BE49-F238E27FC236}">
                <a16:creationId xmlns:a16="http://schemas.microsoft.com/office/drawing/2014/main" id="{AA8A3C91-E3F4-E3DB-9583-7BEEDB834EEE}"/>
              </a:ext>
            </a:extLst>
          </p:cNvPr>
          <p:cNvSpPr>
            <a:spLocks noGrp="1"/>
          </p:cNvSpPr>
          <p:nvPr/>
        </p:nvSpPr>
        <p:spPr>
          <a:xfrm>
            <a:off x="857250" y="5772150"/>
            <a:ext cx="1038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725" b="1">
                <a:solidFill>
                  <a:srgbClr val="16335B"/>
                </a:solidFill>
              </a:defRPr>
            </a:pPr>
            <a:r>
              <a:rPr sz="1725" b="1" dirty="0" err="1">
                <a:solidFill>
                  <a:srgbClr val="16335B"/>
                </a:solidFill>
              </a:rPr>
              <a:t>Общее</a:t>
            </a:r>
            <a:r>
              <a:rPr sz="1725" b="1" dirty="0">
                <a:solidFill>
                  <a:srgbClr val="16335B"/>
                </a:solidFill>
              </a:rPr>
              <a:t> </a:t>
            </a:r>
            <a:r>
              <a:rPr sz="1725" b="1" dirty="0" err="1">
                <a:solidFill>
                  <a:srgbClr val="16335B"/>
                </a:solidFill>
              </a:rPr>
              <a:t>свойство</a:t>
            </a:r>
            <a:r>
              <a:rPr sz="1725" b="1" dirty="0">
                <a:solidFill>
                  <a:srgbClr val="16335B"/>
                </a:solidFill>
              </a:rPr>
              <a:t>:</a:t>
            </a:r>
            <a:r>
              <a:rPr lang="ru-RU" sz="1725" b="1" dirty="0">
                <a:solidFill>
                  <a:srgbClr val="16335B"/>
                </a:solidFill>
              </a:rPr>
              <a:t> Не надо сомневаться в своих или чужих решениях, не надо думать «а есть ли ещё где-то такие же проблемы» или «а как это будет работать в будущем или в каком-то интересном кейсе»</a:t>
            </a:r>
            <a:r>
              <a:rPr sz="1725" b="1" dirty="0">
                <a:solidFill>
                  <a:srgbClr val="16335B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6957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ooter-rule-6">
            <a:extLst>
              <a:ext uri="{FF2B5EF4-FFF2-40B4-BE49-F238E27FC236}">
                <a16:creationId xmlns:a16="http://schemas.microsoft.com/office/drawing/2014/main" id="{F937C881-7A14-449A-89C7-A0699A34F299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1391900" cy="0"/>
          </a:xfrm>
          <a:prstGeom prst="line">
            <a:avLst/>
          </a:prstGeom>
          <a:noFill/>
          <a:ln w="9525">
            <a:solidFill>
              <a:srgbClr val="D0D5DD"/>
            </a:solidFill>
            <a:prstDash val="solid"/>
          </a:ln>
        </p:spPr>
      </p:sp>
      <p:sp>
        <p:nvSpPr>
          <p:cNvPr id="2" name="footer-title-6">
            <a:extLst>
              <a:ext uri="{FF2B5EF4-FFF2-40B4-BE49-F238E27FC236}">
                <a16:creationId xmlns:a16="http://schemas.microsoft.com/office/drawing/2014/main" id="{54A4A416-BC6B-4E11-B259-89A277F1F49D}"/>
              </a:ext>
            </a:extLst>
          </p:cNvPr>
          <p:cNvSpPr>
            <a:spLocks noGrp="1"/>
          </p:cNvSpPr>
          <p:nvPr/>
        </p:nvSpPr>
        <p:spPr>
          <a:xfrm>
            <a:off x="400050" y="6505575"/>
            <a:ext cx="504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Что тяжелее всего даётся ИИ</a:t>
            </a:r>
          </a:p>
        </p:txBody>
      </p:sp>
      <p:sp>
        <p:nvSpPr>
          <p:cNvPr id="3" name="footer-number-6">
            <a:extLst>
              <a:ext uri="{FF2B5EF4-FFF2-40B4-BE49-F238E27FC236}">
                <a16:creationId xmlns:a16="http://schemas.microsoft.com/office/drawing/2014/main" id="{B50D6F1D-D40C-426B-9FE2-EA8BF45EB45E}"/>
              </a:ext>
            </a:extLst>
          </p:cNvPr>
          <p:cNvSpPr>
            <a:spLocks noGrp="1"/>
          </p:cNvSpPr>
          <p:nvPr/>
        </p:nvSpPr>
        <p:spPr>
          <a:xfrm>
            <a:off x="11277600" y="6505575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6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F9277413-E701-48ED-8E0D-818733A3787A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0572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925" b="1">
                <a:solidFill>
                  <a:srgbClr val="101828"/>
                </a:solidFill>
              </a:defRPr>
            </a:pPr>
            <a:r>
              <a:rPr sz="2925" b="1">
                <a:solidFill>
                  <a:srgbClr val="101828"/>
                </a:solidFill>
              </a:rPr>
              <a:t>Как за 10 минут отделить знание правил от рабочего поведения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5FF71112-E16E-4156-AF94-BC126F0DC021}"/>
              </a:ext>
            </a:extLst>
          </p:cNvPr>
          <p:cNvSpPr>
            <a:spLocks noGrp="1"/>
          </p:cNvSpPr>
          <p:nvPr/>
        </p:nvSpPr>
        <p:spPr>
          <a:xfrm>
            <a:off x="400050" y="1447800"/>
            <a:ext cx="1057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Экзамен — это не викторина. Это маленькая рабочая задача, в которой неверное действие соблазнительно и дешевле верного.</a:t>
            </a:r>
          </a:p>
        </p:txBody>
      </p:sp>
      <p:sp>
        <p:nvSpPr>
          <p:cNvPr id="6" name="step-box-0">
            <a:extLst>
              <a:ext uri="{FF2B5EF4-FFF2-40B4-BE49-F238E27FC236}">
                <a16:creationId xmlns:a16="http://schemas.microsoft.com/office/drawing/2014/main" id="{084A5704-F555-481B-9584-D07C29B97ECB}"/>
              </a:ext>
            </a:extLst>
          </p:cNvPr>
          <p:cNvSpPr>
            <a:spLocks noGrp="1"/>
          </p:cNvSpPr>
          <p:nvPr/>
        </p:nvSpPr>
        <p:spPr>
          <a:xfrm>
            <a:off x="495300" y="2381250"/>
            <a:ext cx="2381250" cy="228600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0">
            <a:noFill/>
            <a:prstDash val="solid"/>
          </a:ln>
        </p:spPr>
      </p:sp>
      <p:sp>
        <p:nvSpPr>
          <p:cNvPr id="7" name="step-num-0">
            <a:extLst>
              <a:ext uri="{FF2B5EF4-FFF2-40B4-BE49-F238E27FC236}">
                <a16:creationId xmlns:a16="http://schemas.microsoft.com/office/drawing/2014/main" id="{197ABA18-A1C4-4FED-841E-584521FD786A}"/>
              </a:ext>
            </a:extLst>
          </p:cNvPr>
          <p:cNvSpPr>
            <a:spLocks noGrp="1"/>
          </p:cNvSpPr>
          <p:nvPr/>
        </p:nvSpPr>
        <p:spPr>
          <a:xfrm>
            <a:off x="723900" y="2571750"/>
            <a:ext cx="47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400" b="1">
                <a:solidFill>
                  <a:srgbClr val="3D8DFF"/>
                </a:solidFill>
              </a:defRPr>
            </a:pPr>
            <a:r>
              <a:rPr sz="240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8" name="step-title-0">
            <a:extLst>
              <a:ext uri="{FF2B5EF4-FFF2-40B4-BE49-F238E27FC236}">
                <a16:creationId xmlns:a16="http://schemas.microsoft.com/office/drawing/2014/main" id="{48F3C18F-8CD7-4F32-ACC8-B2078FC09502}"/>
              </a:ext>
            </a:extLst>
          </p:cNvPr>
          <p:cNvSpPr>
            <a:spLocks noGrp="1"/>
          </p:cNvSpPr>
          <p:nvPr/>
        </p:nvSpPr>
        <p:spPr>
          <a:xfrm>
            <a:off x="723900" y="3143250"/>
            <a:ext cx="1943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Берём реальный класс ошибки</a:t>
            </a:r>
          </a:p>
        </p:txBody>
      </p:sp>
      <p:sp>
        <p:nvSpPr>
          <p:cNvPr id="9" name="step-body-0">
            <a:extLst>
              <a:ext uri="{FF2B5EF4-FFF2-40B4-BE49-F238E27FC236}">
                <a16:creationId xmlns:a16="http://schemas.microsoft.com/office/drawing/2014/main" id="{2544441C-3408-469C-9BE8-DE696CE187C4}"/>
              </a:ext>
            </a:extLst>
          </p:cNvPr>
          <p:cNvSpPr>
            <a:spLocks noGrp="1"/>
          </p:cNvSpPr>
          <p:nvPr/>
        </p:nvSpPr>
        <p:spPr>
          <a:xfrm>
            <a:off x="723900" y="3905250"/>
            <a:ext cx="1943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Не проверяем эрудицию — проверяем рефлекс.</a:t>
            </a:r>
          </a:p>
        </p:txBody>
      </p:sp>
      <p:sp>
        <p:nvSpPr>
          <p:cNvPr id="10" name="step-box-1">
            <a:extLst>
              <a:ext uri="{FF2B5EF4-FFF2-40B4-BE49-F238E27FC236}">
                <a16:creationId xmlns:a16="http://schemas.microsoft.com/office/drawing/2014/main" id="{0E640017-3737-46CC-9562-3EBC690D3C5C}"/>
              </a:ext>
            </a:extLst>
          </p:cNvPr>
          <p:cNvSpPr>
            <a:spLocks noGrp="1"/>
          </p:cNvSpPr>
          <p:nvPr/>
        </p:nvSpPr>
        <p:spPr>
          <a:xfrm>
            <a:off x="3314700" y="2381250"/>
            <a:ext cx="2381250" cy="2286000"/>
          </a:xfrm>
          <a:prstGeom prst="roundRect">
            <a:avLst>
              <a:gd name="adj" fmla="val 5000"/>
            </a:avLst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11" name="step-num-1">
            <a:extLst>
              <a:ext uri="{FF2B5EF4-FFF2-40B4-BE49-F238E27FC236}">
                <a16:creationId xmlns:a16="http://schemas.microsoft.com/office/drawing/2014/main" id="{942B97F5-C21F-4A51-928E-1E81D7EBC76A}"/>
              </a:ext>
            </a:extLst>
          </p:cNvPr>
          <p:cNvSpPr>
            <a:spLocks noGrp="1"/>
          </p:cNvSpPr>
          <p:nvPr/>
        </p:nvSpPr>
        <p:spPr>
          <a:xfrm>
            <a:off x="3543300" y="2571750"/>
            <a:ext cx="47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400" b="1">
                <a:solidFill>
                  <a:srgbClr val="3D8DFF"/>
                </a:solidFill>
              </a:defRPr>
            </a:pPr>
            <a:r>
              <a:rPr sz="240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12" name="step-title-1">
            <a:extLst>
              <a:ext uri="{FF2B5EF4-FFF2-40B4-BE49-F238E27FC236}">
                <a16:creationId xmlns:a16="http://schemas.microsoft.com/office/drawing/2014/main" id="{5AE3745C-65B2-404B-9E77-C692EEFE3EE6}"/>
              </a:ext>
            </a:extLst>
          </p:cNvPr>
          <p:cNvSpPr>
            <a:spLocks noGrp="1"/>
          </p:cNvSpPr>
          <p:nvPr/>
        </p:nvSpPr>
        <p:spPr>
          <a:xfrm>
            <a:off x="3543300" y="3143250"/>
            <a:ext cx="1943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Создаём парные ловушки</a:t>
            </a:r>
          </a:p>
        </p:txBody>
      </p:sp>
      <p:sp>
        <p:nvSpPr>
          <p:cNvPr id="13" name="step-body-1">
            <a:extLst>
              <a:ext uri="{FF2B5EF4-FFF2-40B4-BE49-F238E27FC236}">
                <a16:creationId xmlns:a16="http://schemas.microsoft.com/office/drawing/2014/main" id="{C1249D36-D881-418C-B273-62B6C9001F35}"/>
              </a:ext>
            </a:extLst>
          </p:cNvPr>
          <p:cNvSpPr>
            <a:spLocks noGrp="1"/>
          </p:cNvSpPr>
          <p:nvPr/>
        </p:nvSpPr>
        <p:spPr>
          <a:xfrm>
            <a:off x="3543300" y="3905250"/>
            <a:ext cx="1943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Есть и ложное, и верное отрицательное утверждение.</a:t>
            </a:r>
          </a:p>
        </p:txBody>
      </p:sp>
      <p:sp>
        <p:nvSpPr>
          <p:cNvPr id="14" name="step-box-2">
            <a:extLst>
              <a:ext uri="{FF2B5EF4-FFF2-40B4-BE49-F238E27FC236}">
                <a16:creationId xmlns:a16="http://schemas.microsoft.com/office/drawing/2014/main" id="{4F563EA2-509E-41F3-B4CC-93F894395A2B}"/>
              </a:ext>
            </a:extLst>
          </p:cNvPr>
          <p:cNvSpPr>
            <a:spLocks noGrp="1"/>
          </p:cNvSpPr>
          <p:nvPr/>
        </p:nvSpPr>
        <p:spPr>
          <a:xfrm>
            <a:off x="6134100" y="2381250"/>
            <a:ext cx="2381250" cy="228600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0">
            <a:noFill/>
            <a:prstDash val="solid"/>
          </a:ln>
        </p:spPr>
      </p:sp>
      <p:sp>
        <p:nvSpPr>
          <p:cNvPr id="15" name="step-num-2">
            <a:extLst>
              <a:ext uri="{FF2B5EF4-FFF2-40B4-BE49-F238E27FC236}">
                <a16:creationId xmlns:a16="http://schemas.microsoft.com/office/drawing/2014/main" id="{C03F8C80-5132-40E5-BA3A-2C3859E7174B}"/>
              </a:ext>
            </a:extLst>
          </p:cNvPr>
          <p:cNvSpPr>
            <a:spLocks noGrp="1"/>
          </p:cNvSpPr>
          <p:nvPr/>
        </p:nvSpPr>
        <p:spPr>
          <a:xfrm>
            <a:off x="6362700" y="2571750"/>
            <a:ext cx="47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400" b="1">
                <a:solidFill>
                  <a:srgbClr val="3D8DFF"/>
                </a:solidFill>
              </a:defRPr>
            </a:pPr>
            <a:r>
              <a:rPr sz="240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16" name="step-title-2">
            <a:extLst>
              <a:ext uri="{FF2B5EF4-FFF2-40B4-BE49-F238E27FC236}">
                <a16:creationId xmlns:a16="http://schemas.microsoft.com/office/drawing/2014/main" id="{0A235666-08C6-48D8-94B0-3D8FACA451D2}"/>
              </a:ext>
            </a:extLst>
          </p:cNvPr>
          <p:cNvSpPr>
            <a:spLocks noGrp="1"/>
          </p:cNvSpPr>
          <p:nvPr/>
        </p:nvSpPr>
        <p:spPr>
          <a:xfrm>
            <a:off x="6362700" y="3143250"/>
            <a:ext cx="1943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Не объявляем экзамен</a:t>
            </a:r>
          </a:p>
        </p:txBody>
      </p:sp>
      <p:sp>
        <p:nvSpPr>
          <p:cNvPr id="17" name="step-body-2">
            <a:extLst>
              <a:ext uri="{FF2B5EF4-FFF2-40B4-BE49-F238E27FC236}">
                <a16:creationId xmlns:a16="http://schemas.microsoft.com/office/drawing/2014/main" id="{D415F08A-6BC2-47C1-96C8-C09DE2F95A44}"/>
              </a:ext>
            </a:extLst>
          </p:cNvPr>
          <p:cNvSpPr>
            <a:spLocks noGrp="1"/>
          </p:cNvSpPr>
          <p:nvPr/>
        </p:nvSpPr>
        <p:spPr>
          <a:xfrm>
            <a:off x="6362700" y="3905250"/>
            <a:ext cx="1943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Нужен обычный рабочий режим, а не подготовленный ответ.</a:t>
            </a:r>
          </a:p>
        </p:txBody>
      </p:sp>
      <p:sp>
        <p:nvSpPr>
          <p:cNvPr id="18" name="step-box-3">
            <a:extLst>
              <a:ext uri="{FF2B5EF4-FFF2-40B4-BE49-F238E27FC236}">
                <a16:creationId xmlns:a16="http://schemas.microsoft.com/office/drawing/2014/main" id="{663C77BB-91C1-436B-9013-7AD28F8B082F}"/>
              </a:ext>
            </a:extLst>
          </p:cNvPr>
          <p:cNvSpPr>
            <a:spLocks noGrp="1"/>
          </p:cNvSpPr>
          <p:nvPr/>
        </p:nvSpPr>
        <p:spPr>
          <a:xfrm>
            <a:off x="8953500" y="2381250"/>
            <a:ext cx="2381250" cy="228600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0">
            <a:noFill/>
            <a:prstDash val="solid"/>
          </a:ln>
        </p:spPr>
      </p:sp>
      <p:sp>
        <p:nvSpPr>
          <p:cNvPr id="19" name="step-num-3">
            <a:extLst>
              <a:ext uri="{FF2B5EF4-FFF2-40B4-BE49-F238E27FC236}">
                <a16:creationId xmlns:a16="http://schemas.microsoft.com/office/drawing/2014/main" id="{2C06BD40-E30F-4C96-9D9F-FCE6F09AC290}"/>
              </a:ext>
            </a:extLst>
          </p:cNvPr>
          <p:cNvSpPr>
            <a:spLocks noGrp="1"/>
          </p:cNvSpPr>
          <p:nvPr/>
        </p:nvSpPr>
        <p:spPr>
          <a:xfrm>
            <a:off x="9182100" y="2571750"/>
            <a:ext cx="47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400" b="1">
                <a:solidFill>
                  <a:srgbClr val="3D8DFF"/>
                </a:solidFill>
              </a:defRPr>
            </a:pPr>
            <a:r>
              <a:rPr sz="2400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20" name="step-title-3">
            <a:extLst>
              <a:ext uri="{FF2B5EF4-FFF2-40B4-BE49-F238E27FC236}">
                <a16:creationId xmlns:a16="http://schemas.microsoft.com/office/drawing/2014/main" id="{562C373D-3DFB-4987-9FE9-6675AA2B01C0}"/>
              </a:ext>
            </a:extLst>
          </p:cNvPr>
          <p:cNvSpPr>
            <a:spLocks noGrp="1"/>
          </p:cNvSpPr>
          <p:nvPr/>
        </p:nvSpPr>
        <p:spPr>
          <a:xfrm>
            <a:off x="9182100" y="3143250"/>
            <a:ext cx="1943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Повторяем и контролируем</a:t>
            </a:r>
          </a:p>
        </p:txBody>
      </p:sp>
      <p:sp>
        <p:nvSpPr>
          <p:cNvPr id="21" name="step-body-3">
            <a:extLst>
              <a:ext uri="{FF2B5EF4-FFF2-40B4-BE49-F238E27FC236}">
                <a16:creationId xmlns:a16="http://schemas.microsoft.com/office/drawing/2014/main" id="{A2F250E2-1AA7-4DFA-B0F0-E7D8E43CEF5C}"/>
              </a:ext>
            </a:extLst>
          </p:cNvPr>
          <p:cNvSpPr>
            <a:spLocks noGrp="1"/>
          </p:cNvSpPr>
          <p:nvPr/>
        </p:nvSpPr>
        <p:spPr>
          <a:xfrm>
            <a:off x="9182100" y="3905250"/>
            <a:ext cx="1943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Свежий контекст + проверка моделью другого уровня.</a:t>
            </a:r>
          </a:p>
        </p:txBody>
      </p:sp>
      <p:sp>
        <p:nvSpPr>
          <p:cNvPr id="22" name="bottom-claim">
            <a:extLst>
              <a:ext uri="{FF2B5EF4-FFF2-40B4-BE49-F238E27FC236}">
                <a16:creationId xmlns:a16="http://schemas.microsoft.com/office/drawing/2014/main" id="{4D6F080A-8DF8-45F6-9A38-289C0A9E53AC}"/>
              </a:ext>
            </a:extLst>
          </p:cNvPr>
          <p:cNvSpPr>
            <a:spLocks noGrp="1"/>
          </p:cNvSpPr>
          <p:nvPr/>
        </p:nvSpPr>
        <p:spPr>
          <a:xfrm>
            <a:off x="857250" y="5219700"/>
            <a:ext cx="10382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00" b="1">
                <a:solidFill>
                  <a:srgbClr val="16335B"/>
                </a:solidFill>
              </a:defRPr>
            </a:pPr>
            <a:r>
              <a:rPr sz="1800" b="1">
                <a:solidFill>
                  <a:srgbClr val="16335B"/>
                </a:solidFill>
              </a:rPr>
              <a:t>Такой формат быстро выявляет не память, а способность модели отказаться от удобного ответа.</a:t>
            </a:r>
          </a:p>
        </p:txBody>
      </p:sp>
    </p:spTree>
    <p:extLst>
      <p:ext uri="{BB962C8B-B14F-4D97-AF65-F5344CB8AC3E}">
        <p14:creationId xmlns:p14="http://schemas.microsoft.com/office/powerpoint/2010/main" val="1021975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-rule-7">
            <a:extLst>
              <a:ext uri="{FF2B5EF4-FFF2-40B4-BE49-F238E27FC236}">
                <a16:creationId xmlns:a16="http://schemas.microsoft.com/office/drawing/2014/main" id="{5D297EA6-6695-40C1-BE62-41F77CCF35C7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1391900" cy="0"/>
          </a:xfrm>
          <a:prstGeom prst="line">
            <a:avLst/>
          </a:prstGeom>
          <a:noFill/>
          <a:ln w="9525">
            <a:solidFill>
              <a:srgbClr val="D0D5DD"/>
            </a:solidFill>
            <a:prstDash val="solid"/>
          </a:ln>
        </p:spPr>
      </p:sp>
      <p:sp>
        <p:nvSpPr>
          <p:cNvPr id="2" name="footer-title-7">
            <a:extLst>
              <a:ext uri="{FF2B5EF4-FFF2-40B4-BE49-F238E27FC236}">
                <a16:creationId xmlns:a16="http://schemas.microsoft.com/office/drawing/2014/main" id="{86606D08-A4D9-4CDE-ABD2-0A4DDAE6D76F}"/>
              </a:ext>
            </a:extLst>
          </p:cNvPr>
          <p:cNvSpPr>
            <a:spLocks noGrp="1"/>
          </p:cNvSpPr>
          <p:nvPr/>
        </p:nvSpPr>
        <p:spPr>
          <a:xfrm>
            <a:off x="400050" y="6505575"/>
            <a:ext cx="504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Что тяжелее всего даётся ИИ</a:t>
            </a:r>
          </a:p>
        </p:txBody>
      </p:sp>
      <p:sp>
        <p:nvSpPr>
          <p:cNvPr id="3" name="footer-number-7">
            <a:extLst>
              <a:ext uri="{FF2B5EF4-FFF2-40B4-BE49-F238E27FC236}">
                <a16:creationId xmlns:a16="http://schemas.microsoft.com/office/drawing/2014/main" id="{F34B4569-5927-4BBB-BF9B-222368B2CEAF}"/>
              </a:ext>
            </a:extLst>
          </p:cNvPr>
          <p:cNvSpPr>
            <a:spLocks noGrp="1"/>
          </p:cNvSpPr>
          <p:nvPr/>
        </p:nvSpPr>
        <p:spPr>
          <a:xfrm>
            <a:off x="11277600" y="6505575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7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1CBE6D93-A289-485D-BDAA-CB82C9DC9BBF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0763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925" b="1">
                <a:solidFill>
                  <a:srgbClr val="101828"/>
                </a:solidFill>
              </a:defRPr>
            </a:pPr>
            <a:r>
              <a:rPr sz="2925" b="1">
                <a:solidFill>
                  <a:srgbClr val="101828"/>
                </a:solidFill>
              </a:rPr>
              <a:t>На одном наборе Haiku и Sonnet показали разный тип поведения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52F76E5F-C8E4-4149-A381-9C1FBCCD85AE}"/>
              </a:ext>
            </a:extLst>
          </p:cNvPr>
          <p:cNvSpPr>
            <a:spLocks noGrp="1"/>
          </p:cNvSpPr>
          <p:nvPr/>
        </p:nvSpPr>
        <p:spPr>
          <a:xfrm>
            <a:off x="400050" y="1428750"/>
            <a:ext cx="1047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Два независимых прогона на 10 вопросах с ловушками на источник, пустой поиск, документацию и точный счёт.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="704850" y="2266950"/>
          <a:ext cx="5810250" cy="2781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finding">
            <a:extLst>
              <a:ext uri="{FF2B5EF4-FFF2-40B4-BE49-F238E27FC236}">
                <a16:creationId xmlns:a16="http://schemas.microsoft.com/office/drawing/2014/main" id="{061E38C5-FA24-4796-9440-2212A9FA9B55}"/>
              </a:ext>
            </a:extLst>
          </p:cNvPr>
          <p:cNvSpPr>
            <a:spLocks noGrp="1"/>
          </p:cNvSpPr>
          <p:nvPr/>
        </p:nvSpPr>
        <p:spPr>
          <a:xfrm>
            <a:off x="7239000" y="2266950"/>
            <a:ext cx="3962400" cy="2781300"/>
          </a:xfrm>
          <a:prstGeom prst="roundRect">
            <a:avLst>
              <a:gd name="adj" fmla="val 4110"/>
            </a:avLst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8" name="finding-title">
            <a:extLst>
              <a:ext uri="{FF2B5EF4-FFF2-40B4-BE49-F238E27FC236}">
                <a16:creationId xmlns:a16="http://schemas.microsoft.com/office/drawing/2014/main" id="{7C139B27-101E-4689-92CC-C0203CA816BF}"/>
              </a:ext>
            </a:extLst>
          </p:cNvPr>
          <p:cNvSpPr>
            <a:spLocks noGrp="1"/>
          </p:cNvSpPr>
          <p:nvPr/>
        </p:nvSpPr>
        <p:spPr>
          <a:xfrm>
            <a:off x="7524750" y="253365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16335B"/>
                </a:solidFill>
              </a:defRPr>
            </a:pPr>
            <a:r>
              <a:rPr sz="1950" b="1">
                <a:solidFill>
                  <a:srgbClr val="16335B"/>
                </a:solidFill>
              </a:rPr>
              <a:t>Что разделило модели</a:t>
            </a:r>
          </a:p>
        </p:txBody>
      </p:sp>
      <p:sp>
        <p:nvSpPr>
          <p:cNvPr id="9" name="finding-body">
            <a:extLst>
              <a:ext uri="{FF2B5EF4-FFF2-40B4-BE49-F238E27FC236}">
                <a16:creationId xmlns:a16="http://schemas.microsoft.com/office/drawing/2014/main" id="{E80C0B1C-23D8-4EAE-B397-BB54ED933FF8}"/>
              </a:ext>
            </a:extLst>
          </p:cNvPr>
          <p:cNvSpPr>
            <a:spLocks noGrp="1"/>
          </p:cNvSpPr>
          <p:nvPr/>
        </p:nvSpPr>
        <p:spPr>
          <a:xfrm>
            <a:off x="7524750" y="3067050"/>
            <a:ext cx="3238500" cy="1571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16335B"/>
                </a:solidFill>
              </a:defRPr>
            </a:pPr>
            <a:r>
              <a:rPr sz="1575" b="0">
                <a:solidFill>
                  <a:srgbClr val="16335B"/>
                </a:solidFill>
              </a:rPr>
              <a:t>Haiku</a:t>
            </a:r>
          </a:p>
          <a:p>
            <a:pPr algn="l">
              <a:defRPr sz="1575" b="0">
                <a:solidFill>
                  <a:srgbClr val="16335B"/>
                </a:solidFill>
              </a:defRPr>
            </a:pPr>
            <a:r>
              <a:rPr sz="1575" b="0">
                <a:solidFill>
                  <a:srgbClr val="16335B"/>
                </a:solidFill>
              </a:rPr>
              <a:t>Подменяла названный источник похожим.</a:t>
            </a:r>
          </a:p>
          <a:p>
            <a:endParaRPr sz="1575" b="0">
              <a:solidFill>
                <a:srgbClr val="16335B"/>
              </a:solidFill>
            </a:endParaRPr>
          </a:p>
          <a:p>
            <a:pPr algn="l">
              <a:defRPr sz="1575" b="0">
                <a:solidFill>
                  <a:srgbClr val="16335B"/>
                </a:solidFill>
              </a:defRPr>
            </a:pPr>
            <a:r>
              <a:rPr sz="1575" b="0">
                <a:solidFill>
                  <a:srgbClr val="16335B"/>
                </a:solidFill>
              </a:rPr>
              <a:t>Sonnet</a:t>
            </a:r>
          </a:p>
          <a:p>
            <a:pPr algn="l">
              <a:defRPr sz="1575" b="0">
                <a:solidFill>
                  <a:srgbClr val="16335B"/>
                </a:solidFill>
              </a:defRPr>
            </a:pPr>
            <a:r>
              <a:rPr sz="1575" b="0">
                <a:solidFill>
                  <a:srgbClr val="16335B"/>
                </a:solidFill>
              </a:rPr>
              <a:t>Проверила носители, отрицания и границы метода.</a:t>
            </a:r>
          </a:p>
        </p:txBody>
      </p:sp>
      <p:sp>
        <p:nvSpPr>
          <p:cNvPr id="10" name="bottom-claim">
            <a:extLst>
              <a:ext uri="{FF2B5EF4-FFF2-40B4-BE49-F238E27FC236}">
                <a16:creationId xmlns:a16="http://schemas.microsoft.com/office/drawing/2014/main" id="{19F7FD6B-B456-4ABA-9815-69AE5025F531}"/>
              </a:ext>
            </a:extLst>
          </p:cNvPr>
          <p:cNvSpPr>
            <a:spLocks noGrp="1"/>
          </p:cNvSpPr>
          <p:nvPr/>
        </p:nvSpPr>
        <p:spPr>
          <a:xfrm>
            <a:off x="1047750" y="5562600"/>
            <a:ext cx="981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75" b="1">
                <a:solidFill>
                  <a:srgbClr val="16335B"/>
                </a:solidFill>
              </a:defRPr>
            </a:pPr>
            <a:r>
              <a:rPr sz="1875" b="1">
                <a:solidFill>
                  <a:srgbClr val="16335B"/>
                </a:solidFill>
              </a:rPr>
              <a:t>Разница не в скорости ответа, а в готовности заплатить за проверку.</a:t>
            </a:r>
          </a:p>
        </p:txBody>
      </p:sp>
    </p:spTree>
    <p:extLst>
      <p:ext uri="{BB962C8B-B14F-4D97-AF65-F5344CB8AC3E}">
        <p14:creationId xmlns:p14="http://schemas.microsoft.com/office/powerpoint/2010/main" val="1510427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-rule-8">
            <a:extLst>
              <a:ext uri="{FF2B5EF4-FFF2-40B4-BE49-F238E27FC236}">
                <a16:creationId xmlns:a16="http://schemas.microsoft.com/office/drawing/2014/main" id="{AFCB8EE3-6BDA-4961-BF0E-E90E1F7BB374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1391900" cy="0"/>
          </a:xfrm>
          <a:prstGeom prst="line">
            <a:avLst/>
          </a:prstGeom>
          <a:noFill/>
          <a:ln w="9525">
            <a:solidFill>
              <a:srgbClr val="D0D5DD"/>
            </a:solidFill>
            <a:prstDash val="solid"/>
          </a:ln>
        </p:spPr>
      </p:sp>
      <p:sp>
        <p:nvSpPr>
          <p:cNvPr id="2" name="footer-title-8">
            <a:extLst>
              <a:ext uri="{FF2B5EF4-FFF2-40B4-BE49-F238E27FC236}">
                <a16:creationId xmlns:a16="http://schemas.microsoft.com/office/drawing/2014/main" id="{79D2697C-9102-42F5-A9B6-AA1641E64614}"/>
              </a:ext>
            </a:extLst>
          </p:cNvPr>
          <p:cNvSpPr>
            <a:spLocks noGrp="1"/>
          </p:cNvSpPr>
          <p:nvPr/>
        </p:nvSpPr>
        <p:spPr>
          <a:xfrm>
            <a:off x="400050" y="6505575"/>
            <a:ext cx="504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Что тяжелее всего даётся ИИ</a:t>
            </a:r>
          </a:p>
        </p:txBody>
      </p:sp>
      <p:sp>
        <p:nvSpPr>
          <p:cNvPr id="3" name="footer-number-8">
            <a:extLst>
              <a:ext uri="{FF2B5EF4-FFF2-40B4-BE49-F238E27FC236}">
                <a16:creationId xmlns:a16="http://schemas.microsoft.com/office/drawing/2014/main" id="{8E919ABD-7371-4FEB-9ACD-928F651805BC}"/>
              </a:ext>
            </a:extLst>
          </p:cNvPr>
          <p:cNvSpPr>
            <a:spLocks noGrp="1"/>
          </p:cNvSpPr>
          <p:nvPr/>
        </p:nvSpPr>
        <p:spPr>
          <a:xfrm>
            <a:off x="11277600" y="6505575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8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CBEA55C0-8556-4DD7-9DDE-FF73903AAE73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09537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Критик сложнее строителя: он должен найти дефект и не выдумать другой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BA2A781-B20B-4FCC-A428-AEAC62D7235D}"/>
              </a:ext>
            </a:extLst>
          </p:cNvPr>
          <p:cNvSpPr>
            <a:spLocks noGrp="1"/>
          </p:cNvSpPr>
          <p:nvPr/>
        </p:nvSpPr>
        <p:spPr>
          <a:xfrm>
            <a:off x="400050" y="1409700"/>
            <a:ext cx="10572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Поэтому в экзамене есть реальные дефекты, сфабрикованный отчёт, верные отрицательные утверждения и чистые участки кода.</a:t>
            </a:r>
          </a:p>
        </p:txBody>
      </p:sp>
      <p:sp>
        <p:nvSpPr>
          <p:cNvPr id="6" name="opus-card">
            <a:extLst>
              <a:ext uri="{FF2B5EF4-FFF2-40B4-BE49-F238E27FC236}">
                <a16:creationId xmlns:a16="http://schemas.microsoft.com/office/drawing/2014/main" id="{6496367B-5152-4C95-9E62-D268674B218E}"/>
              </a:ext>
            </a:extLst>
          </p:cNvPr>
          <p:cNvSpPr>
            <a:spLocks noGrp="1"/>
          </p:cNvSpPr>
          <p:nvPr/>
        </p:nvSpPr>
        <p:spPr>
          <a:xfrm>
            <a:off x="533400" y="2247900"/>
            <a:ext cx="5067300" cy="2628900"/>
          </a:xfrm>
          <a:prstGeom prst="roundRect">
            <a:avLst>
              <a:gd name="adj" fmla="val 4348"/>
            </a:avLst>
          </a:prstGeom>
          <a:solidFill>
            <a:srgbClr val="EAF5FB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7" name="opus-title">
            <a:extLst>
              <a:ext uri="{FF2B5EF4-FFF2-40B4-BE49-F238E27FC236}">
                <a16:creationId xmlns:a16="http://schemas.microsoft.com/office/drawing/2014/main" id="{16321C75-6885-4542-A90D-51D0182F22BF}"/>
              </a:ext>
            </a:extLst>
          </p:cNvPr>
          <p:cNvSpPr>
            <a:spLocks noGrp="1"/>
          </p:cNvSpPr>
          <p:nvPr/>
        </p:nvSpPr>
        <p:spPr>
          <a:xfrm>
            <a:off x="838200" y="251460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475" b="1">
                <a:solidFill>
                  <a:srgbClr val="16335B"/>
                </a:solidFill>
              </a:defRPr>
            </a:pPr>
            <a:r>
              <a:rPr sz="2475" b="1">
                <a:solidFill>
                  <a:srgbClr val="16335B"/>
                </a:solidFill>
              </a:rPr>
              <a:t>Opus</a:t>
            </a:r>
          </a:p>
        </p:txBody>
      </p:sp>
      <p:sp>
        <p:nvSpPr>
          <p:cNvPr id="8" name="opus-score">
            <a:extLst>
              <a:ext uri="{FF2B5EF4-FFF2-40B4-BE49-F238E27FC236}">
                <a16:creationId xmlns:a16="http://schemas.microsoft.com/office/drawing/2014/main" id="{BD632167-BB6C-44AB-95A2-32E9949A6CB6}"/>
              </a:ext>
            </a:extLst>
          </p:cNvPr>
          <p:cNvSpPr>
            <a:spLocks noGrp="1"/>
          </p:cNvSpPr>
          <p:nvPr/>
        </p:nvSpPr>
        <p:spPr>
          <a:xfrm>
            <a:off x="838200" y="3105150"/>
            <a:ext cx="342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75" b="1">
                <a:solidFill>
                  <a:srgbClr val="16335B"/>
                </a:solidFill>
              </a:defRPr>
            </a:pPr>
            <a:r>
              <a:rPr sz="2175" b="1">
                <a:solidFill>
                  <a:srgbClr val="16335B"/>
                </a:solidFill>
              </a:rPr>
              <a:t>2 из 3 прогонов — PASS</a:t>
            </a:r>
          </a:p>
        </p:txBody>
      </p:sp>
      <p:sp>
        <p:nvSpPr>
          <p:cNvPr id="9" name="opus-detail">
            <a:extLst>
              <a:ext uri="{FF2B5EF4-FFF2-40B4-BE49-F238E27FC236}">
                <a16:creationId xmlns:a16="http://schemas.microsoft.com/office/drawing/2014/main" id="{2D940F89-953C-44E9-B034-CD88DEF47F63}"/>
              </a:ext>
            </a:extLst>
          </p:cNvPr>
          <p:cNvSpPr>
            <a:spLocks noGrp="1"/>
          </p:cNvSpPr>
          <p:nvPr/>
        </p:nvSpPr>
        <p:spPr>
          <a:xfrm>
            <a:off x="838200" y="3752850"/>
            <a:ext cx="3810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16335B"/>
                </a:solidFill>
              </a:defRPr>
            </a:pPr>
            <a:r>
              <a:rPr sz="1500" b="0">
                <a:solidFill>
                  <a:srgbClr val="16335B"/>
                </a:solidFill>
              </a:rPr>
              <a:t>Один раз пропустил тонкую гонку в параллельной записи.</a:t>
            </a:r>
          </a:p>
          <a:p>
            <a:pPr algn="l">
              <a:defRPr sz="1500" b="0">
                <a:solidFill>
                  <a:srgbClr val="16335B"/>
                </a:solidFill>
              </a:defRPr>
            </a:pPr>
            <a:r>
              <a:rPr sz="1500" b="0">
                <a:solidFill>
                  <a:srgbClr val="16335B"/>
                </a:solidFill>
              </a:rPr>
              <a:t>Это не отменяет результат — это показывает границу доверия.</a:t>
            </a:r>
          </a:p>
        </p:txBody>
      </p:sp>
      <p:sp>
        <p:nvSpPr>
          <p:cNvPr id="10" name="sonnet-card">
            <a:extLst>
              <a:ext uri="{FF2B5EF4-FFF2-40B4-BE49-F238E27FC236}">
                <a16:creationId xmlns:a16="http://schemas.microsoft.com/office/drawing/2014/main" id="{4E45AE34-9513-4FD6-B754-BEC339FC932E}"/>
              </a:ext>
            </a:extLst>
          </p:cNvPr>
          <p:cNvSpPr>
            <a:spLocks noGrp="1"/>
          </p:cNvSpPr>
          <p:nvPr/>
        </p:nvSpPr>
        <p:spPr>
          <a:xfrm>
            <a:off x="6591300" y="2247900"/>
            <a:ext cx="5067300" cy="2628900"/>
          </a:xfrm>
          <a:prstGeom prst="roundRect">
            <a:avLst>
              <a:gd name="adj" fmla="val 4348"/>
            </a:avLst>
          </a:prstGeom>
          <a:solidFill>
            <a:srgbClr val="F2F4F7"/>
          </a:solidFill>
          <a:ln w="0">
            <a:noFill/>
            <a:prstDash val="solid"/>
          </a:ln>
        </p:spPr>
      </p:sp>
      <p:sp>
        <p:nvSpPr>
          <p:cNvPr id="11" name="sonnet-title">
            <a:extLst>
              <a:ext uri="{FF2B5EF4-FFF2-40B4-BE49-F238E27FC236}">
                <a16:creationId xmlns:a16="http://schemas.microsoft.com/office/drawing/2014/main" id="{70CE469B-C9A1-42F1-9565-CE2ACFAC0D86}"/>
              </a:ext>
            </a:extLst>
          </p:cNvPr>
          <p:cNvSpPr>
            <a:spLocks noGrp="1"/>
          </p:cNvSpPr>
          <p:nvPr/>
        </p:nvSpPr>
        <p:spPr>
          <a:xfrm>
            <a:off x="6896100" y="251460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475" b="1">
                <a:solidFill>
                  <a:srgbClr val="101828"/>
                </a:solidFill>
              </a:defRPr>
            </a:pPr>
            <a:r>
              <a:rPr sz="2475" b="1">
                <a:solidFill>
                  <a:srgbClr val="101828"/>
                </a:solidFill>
              </a:rPr>
              <a:t>Sonnet</a:t>
            </a:r>
          </a:p>
        </p:txBody>
      </p:sp>
      <p:sp>
        <p:nvSpPr>
          <p:cNvPr id="12" name="sonnet-score">
            <a:extLst>
              <a:ext uri="{FF2B5EF4-FFF2-40B4-BE49-F238E27FC236}">
                <a16:creationId xmlns:a16="http://schemas.microsoft.com/office/drawing/2014/main" id="{990290B4-5A7F-4101-ABC7-8E60F1FB0264}"/>
              </a:ext>
            </a:extLst>
          </p:cNvPr>
          <p:cNvSpPr>
            <a:spLocks noGrp="1"/>
          </p:cNvSpPr>
          <p:nvPr/>
        </p:nvSpPr>
        <p:spPr>
          <a:xfrm>
            <a:off x="6896100" y="3105150"/>
            <a:ext cx="3810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D92D20"/>
                </a:solidFill>
              </a:defRPr>
            </a:pPr>
            <a:r>
              <a:rPr sz="2025" b="1">
                <a:solidFill>
                  <a:srgbClr val="D92D20"/>
                </a:solidFill>
              </a:rPr>
              <a:t>FAIL 3/5 обязательных пунктов</a:t>
            </a:r>
          </a:p>
        </p:txBody>
      </p:sp>
      <p:sp>
        <p:nvSpPr>
          <p:cNvPr id="13" name="sonnet-detail">
            <a:extLst>
              <a:ext uri="{FF2B5EF4-FFF2-40B4-BE49-F238E27FC236}">
                <a16:creationId xmlns:a16="http://schemas.microsoft.com/office/drawing/2014/main" id="{A4C50914-5540-4507-A2F9-9976D9ED544D}"/>
              </a:ext>
            </a:extLst>
          </p:cNvPr>
          <p:cNvSpPr>
            <a:spLocks noGrp="1"/>
          </p:cNvSpPr>
          <p:nvPr/>
        </p:nvSpPr>
        <p:spPr>
          <a:xfrm>
            <a:off x="6896100" y="3752850"/>
            <a:ext cx="3905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475467"/>
                </a:solidFill>
              </a:defRPr>
            </a:pPr>
            <a:r>
              <a:rPr sz="1500" b="0">
                <a:solidFill>
                  <a:srgbClr val="475467"/>
                </a:solidFill>
              </a:rPr>
              <a:t>Пропустил и дефект, и ложное отрицательное утверждение.</a:t>
            </a:r>
          </a:p>
          <a:p>
            <a:pPr algn="l">
              <a:defRPr sz="1500" b="0">
                <a:solidFill>
                  <a:srgbClr val="475467"/>
                </a:solidFill>
              </a:defRPr>
            </a:pPr>
            <a:r>
              <a:rPr sz="1500" b="0">
                <a:solidFill>
                  <a:srgbClr val="475467"/>
                </a:solidFill>
              </a:rPr>
              <a:t>Сильный текст не заменяет независимый критический контур.</a:t>
            </a:r>
          </a:p>
        </p:txBody>
      </p:sp>
      <p:sp>
        <p:nvSpPr>
          <p:cNvPr id="14" name="bottom-claim">
            <a:extLst>
              <a:ext uri="{FF2B5EF4-FFF2-40B4-BE49-F238E27FC236}">
                <a16:creationId xmlns:a16="http://schemas.microsoft.com/office/drawing/2014/main" id="{C1DF0FB6-262E-4737-B02A-1487E1DB857C}"/>
              </a:ext>
            </a:extLst>
          </p:cNvPr>
          <p:cNvSpPr>
            <a:spLocks noGrp="1"/>
          </p:cNvSpPr>
          <p:nvPr/>
        </p:nvSpPr>
        <p:spPr>
          <a:xfrm>
            <a:off x="857250" y="5562600"/>
            <a:ext cx="1038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75" b="1">
                <a:solidFill>
                  <a:srgbClr val="16335B"/>
                </a:solidFill>
              </a:defRPr>
            </a:pPr>
            <a:r>
              <a:rPr sz="1875" b="1">
                <a:solidFill>
                  <a:srgbClr val="16335B"/>
                </a:solidFill>
              </a:rPr>
              <a:t>Даже сильная модель не должна сама считать свой результат доказанным.</a:t>
            </a:r>
          </a:p>
        </p:txBody>
      </p:sp>
    </p:spTree>
    <p:extLst>
      <p:ext uri="{BB962C8B-B14F-4D97-AF65-F5344CB8AC3E}">
        <p14:creationId xmlns:p14="http://schemas.microsoft.com/office/powerpoint/2010/main" val="292829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ooter-rule-9">
            <a:extLst>
              <a:ext uri="{FF2B5EF4-FFF2-40B4-BE49-F238E27FC236}">
                <a16:creationId xmlns:a16="http://schemas.microsoft.com/office/drawing/2014/main" id="{825BCB41-14C5-4EED-9A8F-B2B683C16F84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1391900" cy="0"/>
          </a:xfrm>
          <a:prstGeom prst="line">
            <a:avLst/>
          </a:prstGeom>
          <a:noFill/>
          <a:ln w="9525">
            <a:solidFill>
              <a:srgbClr val="D0D5DD"/>
            </a:solidFill>
            <a:prstDash val="solid"/>
          </a:ln>
        </p:spPr>
      </p:sp>
      <p:sp>
        <p:nvSpPr>
          <p:cNvPr id="2" name="footer-title-9">
            <a:extLst>
              <a:ext uri="{FF2B5EF4-FFF2-40B4-BE49-F238E27FC236}">
                <a16:creationId xmlns:a16="http://schemas.microsoft.com/office/drawing/2014/main" id="{EBFD8C74-CD42-449B-8230-0DF0AC92951E}"/>
              </a:ext>
            </a:extLst>
          </p:cNvPr>
          <p:cNvSpPr>
            <a:spLocks noGrp="1"/>
          </p:cNvSpPr>
          <p:nvPr/>
        </p:nvSpPr>
        <p:spPr>
          <a:xfrm>
            <a:off x="400050" y="6505575"/>
            <a:ext cx="504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Что тяжелее всего даётся ИИ</a:t>
            </a:r>
          </a:p>
        </p:txBody>
      </p:sp>
      <p:sp>
        <p:nvSpPr>
          <p:cNvPr id="3" name="footer-number-9">
            <a:extLst>
              <a:ext uri="{FF2B5EF4-FFF2-40B4-BE49-F238E27FC236}">
                <a16:creationId xmlns:a16="http://schemas.microsoft.com/office/drawing/2014/main" id="{7ED5B32B-0714-49E9-836F-548D78F1A66A}"/>
              </a:ext>
            </a:extLst>
          </p:cNvPr>
          <p:cNvSpPr>
            <a:spLocks noGrp="1"/>
          </p:cNvSpPr>
          <p:nvPr/>
        </p:nvSpPr>
        <p:spPr>
          <a:xfrm>
            <a:off x="11277600" y="6505575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9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210BB22E-E50C-4EC7-8CBC-E3786CA28977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9525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101828"/>
                </a:solidFill>
              </a:defRPr>
            </a:pPr>
            <a:r>
              <a:rPr sz="3000" b="1">
                <a:solidFill>
                  <a:srgbClr val="101828"/>
                </a:solidFill>
              </a:rPr>
              <a:t>Кому и сколько доверять</a:t>
            </a:r>
          </a:p>
        </p:txBody>
      </p:sp>
      <p:sp>
        <p:nvSpPr>
          <p:cNvPr id="5" name="trust-card-0">
            <a:extLst>
              <a:ext uri="{FF2B5EF4-FFF2-40B4-BE49-F238E27FC236}">
                <a16:creationId xmlns:a16="http://schemas.microsoft.com/office/drawing/2014/main" id="{3E36419E-F096-4689-AE4D-60758A8ACE98}"/>
              </a:ext>
            </a:extLst>
          </p:cNvPr>
          <p:cNvSpPr>
            <a:spLocks noGrp="1"/>
          </p:cNvSpPr>
          <p:nvPr/>
        </p:nvSpPr>
        <p:spPr>
          <a:xfrm>
            <a:off x="304800" y="1381125"/>
            <a:ext cx="2686050" cy="4000500"/>
          </a:xfrm>
          <a:prstGeom prst="roundRect">
            <a:avLst>
              <a:gd name="adj" fmla="val 4255"/>
            </a:avLst>
          </a:prstGeom>
          <a:solidFill>
            <a:srgbClr val="FDECC8"/>
          </a:solidFill>
          <a:ln w="0">
            <a:noFill/>
            <a:prstDash val="solid"/>
          </a:ln>
        </p:spPr>
      </p:sp>
      <p:sp>
        <p:nvSpPr>
          <p:cNvPr id="6" name="trust-name-0">
            <a:extLst>
              <a:ext uri="{FF2B5EF4-FFF2-40B4-BE49-F238E27FC236}">
                <a16:creationId xmlns:a16="http://schemas.microsoft.com/office/drawing/2014/main" id="{06E65E8B-36E8-4A67-80DE-85A295D27E64}"/>
              </a:ext>
            </a:extLst>
          </p:cNvPr>
          <p:cNvSpPr>
            <a:spLocks noGrp="1"/>
          </p:cNvSpPr>
          <p:nvPr/>
        </p:nvSpPr>
        <p:spPr>
          <a:xfrm>
            <a:off x="533400" y="1685925"/>
            <a:ext cx="2133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75" b="1">
                <a:solidFill>
                  <a:srgbClr val="8A4B00"/>
                </a:solidFill>
              </a:defRPr>
            </a:pPr>
            <a:r>
              <a:rPr sz="2175" b="1">
                <a:solidFill>
                  <a:srgbClr val="8A4B00"/>
                </a:solidFill>
              </a:rPr>
              <a:t>Haiku</a:t>
            </a:r>
          </a:p>
        </p:txBody>
      </p:sp>
      <p:sp>
        <p:nvSpPr>
          <p:cNvPr id="7" name="trust-task-0">
            <a:extLst>
              <a:ext uri="{FF2B5EF4-FFF2-40B4-BE49-F238E27FC236}">
                <a16:creationId xmlns:a16="http://schemas.microsoft.com/office/drawing/2014/main" id="{A6B15A2E-B160-4BD1-B172-5BD34DB5BDFD}"/>
              </a:ext>
            </a:extLst>
          </p:cNvPr>
          <p:cNvSpPr>
            <a:spLocks noGrp="1"/>
          </p:cNvSpPr>
          <p:nvPr/>
        </p:nvSpPr>
        <p:spPr>
          <a:xfrm>
            <a:off x="533400" y="2447925"/>
            <a:ext cx="22098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8A4B00"/>
                </a:solidFill>
              </a:defRPr>
            </a:pPr>
            <a:r>
              <a:rPr sz="1425" b="1">
                <a:solidFill>
                  <a:srgbClr val="8A4B00"/>
                </a:solidFill>
              </a:rPr>
              <a:t>Черновики и механические задачи</a:t>
            </a:r>
          </a:p>
        </p:txBody>
      </p:sp>
      <p:sp>
        <p:nvSpPr>
          <p:cNvPr id="8" name="trust-rule-0">
            <a:extLst>
              <a:ext uri="{FF2B5EF4-FFF2-40B4-BE49-F238E27FC236}">
                <a16:creationId xmlns:a16="http://schemas.microsoft.com/office/drawing/2014/main" id="{CD5A6FF7-B159-42D9-973A-014ECA3068A5}"/>
              </a:ext>
            </a:extLst>
          </p:cNvPr>
          <p:cNvSpPr>
            <a:spLocks noGrp="1"/>
          </p:cNvSpPr>
          <p:nvPr/>
        </p:nvSpPr>
        <p:spPr>
          <a:xfrm>
            <a:off x="533400" y="3495675"/>
            <a:ext cx="22098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63" b="0">
                <a:solidFill>
                  <a:srgbClr val="8A4B00"/>
                </a:solidFill>
              </a:defRPr>
            </a:pPr>
            <a:r>
              <a:rPr sz="1163" b="0">
                <a:solidFill>
                  <a:srgbClr val="8A4B00"/>
                </a:solidFill>
              </a:rPr>
              <a:t>Ошибка должна быть дешёвой, заметной и обратимой.</a:t>
            </a:r>
          </a:p>
        </p:txBody>
      </p:sp>
      <p:sp>
        <p:nvSpPr>
          <p:cNvPr id="9" name="trust-rule-line-0">
            <a:extLst>
              <a:ext uri="{FF2B5EF4-FFF2-40B4-BE49-F238E27FC236}">
                <a16:creationId xmlns:a16="http://schemas.microsoft.com/office/drawing/2014/main" id="{4EB60BFE-FEB8-4242-9C8D-F2D13FCB4731}"/>
              </a:ext>
            </a:extLst>
          </p:cNvPr>
          <p:cNvSpPr>
            <a:spLocks noGrp="1"/>
          </p:cNvSpPr>
          <p:nvPr/>
        </p:nvSpPr>
        <p:spPr>
          <a:xfrm>
            <a:off x="533400" y="4724400"/>
            <a:ext cx="2228850" cy="0"/>
          </a:xfrm>
          <a:prstGeom prst="line">
            <a:avLst/>
          </a:prstGeom>
          <a:noFill/>
          <a:ln w="9525">
            <a:solidFill>
              <a:srgbClr val="8A4B00"/>
            </a:solidFill>
            <a:prstDash val="solid"/>
          </a:ln>
        </p:spPr>
      </p:sp>
      <p:sp>
        <p:nvSpPr>
          <p:cNvPr id="10" name="trust-verdict-0">
            <a:extLst>
              <a:ext uri="{FF2B5EF4-FFF2-40B4-BE49-F238E27FC236}">
                <a16:creationId xmlns:a16="http://schemas.microsoft.com/office/drawing/2014/main" id="{E5D011F7-09AB-4D8C-8B8D-AE746E1CC7D1}"/>
              </a:ext>
            </a:extLst>
          </p:cNvPr>
          <p:cNvSpPr>
            <a:spLocks noGrp="1"/>
          </p:cNvSpPr>
          <p:nvPr/>
        </p:nvSpPr>
        <p:spPr>
          <a:xfrm>
            <a:off x="533400" y="4933950"/>
            <a:ext cx="2209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8A4B00"/>
                </a:solidFill>
              </a:defRPr>
            </a:pPr>
            <a:r>
              <a:rPr sz="1275" b="1">
                <a:solidFill>
                  <a:srgbClr val="8A4B00"/>
                </a:solidFill>
              </a:rPr>
              <a:t>Проверять всегда</a:t>
            </a:r>
          </a:p>
        </p:txBody>
      </p:sp>
      <p:sp>
        <p:nvSpPr>
          <p:cNvPr id="11" name="trust-card-1">
            <a:extLst>
              <a:ext uri="{FF2B5EF4-FFF2-40B4-BE49-F238E27FC236}">
                <a16:creationId xmlns:a16="http://schemas.microsoft.com/office/drawing/2014/main" id="{6C11D456-602C-4BDA-84E1-12F1CBAECBA4}"/>
              </a:ext>
            </a:extLst>
          </p:cNvPr>
          <p:cNvSpPr>
            <a:spLocks noGrp="1"/>
          </p:cNvSpPr>
          <p:nvPr/>
        </p:nvSpPr>
        <p:spPr>
          <a:xfrm>
            <a:off x="3219450" y="1381125"/>
            <a:ext cx="2686050" cy="4000500"/>
          </a:xfrm>
          <a:prstGeom prst="roundRect">
            <a:avLst>
              <a:gd name="adj" fmla="val 4255"/>
            </a:avLst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12" name="trust-name-1">
            <a:extLst>
              <a:ext uri="{FF2B5EF4-FFF2-40B4-BE49-F238E27FC236}">
                <a16:creationId xmlns:a16="http://schemas.microsoft.com/office/drawing/2014/main" id="{4FC75422-8449-46D2-ADC8-2ECC231D38B2}"/>
              </a:ext>
            </a:extLst>
          </p:cNvPr>
          <p:cNvSpPr>
            <a:spLocks noGrp="1"/>
          </p:cNvSpPr>
          <p:nvPr/>
        </p:nvSpPr>
        <p:spPr>
          <a:xfrm>
            <a:off x="3448050" y="1685925"/>
            <a:ext cx="2133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75" b="1">
                <a:solidFill>
                  <a:srgbClr val="16335B"/>
                </a:solidFill>
              </a:defRPr>
            </a:pPr>
            <a:r>
              <a:rPr sz="2175" b="1">
                <a:solidFill>
                  <a:srgbClr val="16335B"/>
                </a:solidFill>
              </a:rPr>
              <a:t>Sonnet</a:t>
            </a:r>
          </a:p>
        </p:txBody>
      </p:sp>
      <p:sp>
        <p:nvSpPr>
          <p:cNvPr id="13" name="trust-task-1">
            <a:extLst>
              <a:ext uri="{FF2B5EF4-FFF2-40B4-BE49-F238E27FC236}">
                <a16:creationId xmlns:a16="http://schemas.microsoft.com/office/drawing/2014/main" id="{5516E943-5357-4082-85E7-100DD18F7BE9}"/>
              </a:ext>
            </a:extLst>
          </p:cNvPr>
          <p:cNvSpPr>
            <a:spLocks noGrp="1"/>
          </p:cNvSpPr>
          <p:nvPr/>
        </p:nvSpPr>
        <p:spPr>
          <a:xfrm>
            <a:off x="3448050" y="2447925"/>
            <a:ext cx="22098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16335B"/>
                </a:solidFill>
              </a:defRPr>
            </a:pPr>
            <a:r>
              <a:rPr sz="1425" b="1">
                <a:solidFill>
                  <a:srgbClr val="16335B"/>
                </a:solidFill>
              </a:rPr>
              <a:t>Ограниченная работа с ясным DoD</a:t>
            </a:r>
          </a:p>
        </p:txBody>
      </p:sp>
      <p:sp>
        <p:nvSpPr>
          <p:cNvPr id="14" name="trust-rule-1">
            <a:extLst>
              <a:ext uri="{FF2B5EF4-FFF2-40B4-BE49-F238E27FC236}">
                <a16:creationId xmlns:a16="http://schemas.microsoft.com/office/drawing/2014/main" id="{233B3CA7-554B-430D-ABFB-FF8D9F815458}"/>
              </a:ext>
            </a:extLst>
          </p:cNvPr>
          <p:cNvSpPr>
            <a:spLocks noGrp="1"/>
          </p:cNvSpPr>
          <p:nvPr/>
        </p:nvSpPr>
        <p:spPr>
          <a:xfrm>
            <a:off x="3448050" y="3495675"/>
            <a:ext cx="22098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63" b="0">
                <a:solidFill>
                  <a:srgbClr val="16335B"/>
                </a:solidFill>
              </a:defRPr>
            </a:pPr>
            <a:r>
              <a:rPr sz="1163" b="0">
                <a:solidFill>
                  <a:srgbClr val="16335B"/>
                </a:solidFill>
              </a:rPr>
              <a:t>Нужен недавний PASS на похожей роли и приёмка результата.</a:t>
            </a:r>
          </a:p>
        </p:txBody>
      </p:sp>
      <p:sp>
        <p:nvSpPr>
          <p:cNvPr id="15" name="trust-rule-line-1">
            <a:extLst>
              <a:ext uri="{FF2B5EF4-FFF2-40B4-BE49-F238E27FC236}">
                <a16:creationId xmlns:a16="http://schemas.microsoft.com/office/drawing/2014/main" id="{B3843153-19EC-4219-AC68-3888BF103943}"/>
              </a:ext>
            </a:extLst>
          </p:cNvPr>
          <p:cNvSpPr>
            <a:spLocks noGrp="1"/>
          </p:cNvSpPr>
          <p:nvPr/>
        </p:nvSpPr>
        <p:spPr>
          <a:xfrm>
            <a:off x="3448050" y="4724400"/>
            <a:ext cx="2228850" cy="0"/>
          </a:xfrm>
          <a:prstGeom prst="line">
            <a:avLst/>
          </a:prstGeom>
          <a:noFill/>
          <a:ln w="9525">
            <a:solidFill>
              <a:srgbClr val="16335B"/>
            </a:solidFill>
            <a:prstDash val="solid"/>
          </a:ln>
        </p:spPr>
      </p:sp>
      <p:sp>
        <p:nvSpPr>
          <p:cNvPr id="16" name="trust-verdict-1">
            <a:extLst>
              <a:ext uri="{FF2B5EF4-FFF2-40B4-BE49-F238E27FC236}">
                <a16:creationId xmlns:a16="http://schemas.microsoft.com/office/drawing/2014/main" id="{71C04D57-3837-4033-953D-BD4186F6D07C}"/>
              </a:ext>
            </a:extLst>
          </p:cNvPr>
          <p:cNvSpPr>
            <a:spLocks noGrp="1"/>
          </p:cNvSpPr>
          <p:nvPr/>
        </p:nvSpPr>
        <p:spPr>
          <a:xfrm>
            <a:off x="3448050" y="4933950"/>
            <a:ext cx="2209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16335B"/>
                </a:solidFill>
              </a:defRPr>
            </a:pPr>
            <a:r>
              <a:rPr sz="1275" b="1">
                <a:solidFill>
                  <a:srgbClr val="16335B"/>
                </a:solidFill>
              </a:rPr>
              <a:t>Доверять условно</a:t>
            </a:r>
          </a:p>
        </p:txBody>
      </p:sp>
      <p:sp>
        <p:nvSpPr>
          <p:cNvPr id="17" name="trust-card-2">
            <a:extLst>
              <a:ext uri="{FF2B5EF4-FFF2-40B4-BE49-F238E27FC236}">
                <a16:creationId xmlns:a16="http://schemas.microsoft.com/office/drawing/2014/main" id="{470C88C8-7EBA-4D7F-BF8C-7ABE1239D90D}"/>
              </a:ext>
            </a:extLst>
          </p:cNvPr>
          <p:cNvSpPr>
            <a:spLocks noGrp="1"/>
          </p:cNvSpPr>
          <p:nvPr/>
        </p:nvSpPr>
        <p:spPr>
          <a:xfrm>
            <a:off x="6134100" y="1381125"/>
            <a:ext cx="2686050" cy="4000500"/>
          </a:xfrm>
          <a:prstGeom prst="roundRect">
            <a:avLst>
              <a:gd name="adj" fmla="val 4255"/>
            </a:avLst>
          </a:prstGeom>
          <a:solidFill>
            <a:srgbClr val="E8EEF8"/>
          </a:solidFill>
          <a:ln w="0">
            <a:noFill/>
            <a:prstDash val="solid"/>
          </a:ln>
        </p:spPr>
      </p:sp>
      <p:sp>
        <p:nvSpPr>
          <p:cNvPr id="18" name="trust-name-2">
            <a:extLst>
              <a:ext uri="{FF2B5EF4-FFF2-40B4-BE49-F238E27FC236}">
                <a16:creationId xmlns:a16="http://schemas.microsoft.com/office/drawing/2014/main" id="{6037F2AB-672B-44E5-9110-EDBDD8589DC4}"/>
              </a:ext>
            </a:extLst>
          </p:cNvPr>
          <p:cNvSpPr>
            <a:spLocks noGrp="1"/>
          </p:cNvSpPr>
          <p:nvPr/>
        </p:nvSpPr>
        <p:spPr>
          <a:xfrm>
            <a:off x="6362700" y="1685925"/>
            <a:ext cx="2133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75" b="1">
                <a:solidFill>
                  <a:srgbClr val="16335B"/>
                </a:solidFill>
              </a:defRPr>
            </a:pPr>
            <a:r>
              <a:rPr sz="2175" b="1">
                <a:solidFill>
                  <a:srgbClr val="16335B"/>
                </a:solidFill>
              </a:rPr>
              <a:t>Opus</a:t>
            </a:r>
          </a:p>
        </p:txBody>
      </p:sp>
      <p:sp>
        <p:nvSpPr>
          <p:cNvPr id="19" name="trust-task-2">
            <a:extLst>
              <a:ext uri="{FF2B5EF4-FFF2-40B4-BE49-F238E27FC236}">
                <a16:creationId xmlns:a16="http://schemas.microsoft.com/office/drawing/2014/main" id="{76CFFFBA-C2A6-4EE9-B4E3-2BC478031910}"/>
              </a:ext>
            </a:extLst>
          </p:cNvPr>
          <p:cNvSpPr>
            <a:spLocks noGrp="1"/>
          </p:cNvSpPr>
          <p:nvPr/>
        </p:nvSpPr>
        <p:spPr>
          <a:xfrm>
            <a:off x="6362700" y="2447925"/>
            <a:ext cx="22098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16335B"/>
                </a:solidFill>
              </a:defRPr>
            </a:pPr>
            <a:r>
              <a:rPr sz="1425" b="1">
                <a:solidFill>
                  <a:srgbClr val="16335B"/>
                </a:solidFill>
              </a:rPr>
              <a:t>Ревью, дизайн, спорные решения</a:t>
            </a:r>
          </a:p>
        </p:txBody>
      </p:sp>
      <p:sp>
        <p:nvSpPr>
          <p:cNvPr id="20" name="trust-rule-2">
            <a:extLst>
              <a:ext uri="{FF2B5EF4-FFF2-40B4-BE49-F238E27FC236}">
                <a16:creationId xmlns:a16="http://schemas.microsoft.com/office/drawing/2014/main" id="{676EF897-9E42-43DE-8D8A-1EF1E73777BA}"/>
              </a:ext>
            </a:extLst>
          </p:cNvPr>
          <p:cNvSpPr>
            <a:spLocks noGrp="1"/>
          </p:cNvSpPr>
          <p:nvPr/>
        </p:nvSpPr>
        <p:spPr>
          <a:xfrm>
            <a:off x="6362700" y="3495675"/>
            <a:ext cx="22098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63" b="0">
                <a:solidFill>
                  <a:srgbClr val="16335B"/>
                </a:solidFill>
              </a:defRPr>
            </a:pPr>
            <a:r>
              <a:rPr sz="1163" b="0">
                <a:solidFill>
                  <a:srgbClr val="16335B"/>
                </a:solidFill>
              </a:rPr>
              <a:t>Нужны доказательства, тесты или независимый контур.</a:t>
            </a:r>
          </a:p>
        </p:txBody>
      </p:sp>
      <p:sp>
        <p:nvSpPr>
          <p:cNvPr id="21" name="trust-rule-line-2">
            <a:extLst>
              <a:ext uri="{FF2B5EF4-FFF2-40B4-BE49-F238E27FC236}">
                <a16:creationId xmlns:a16="http://schemas.microsoft.com/office/drawing/2014/main" id="{2C6A7960-030C-41AD-89B7-261E2023DBAB}"/>
              </a:ext>
            </a:extLst>
          </p:cNvPr>
          <p:cNvSpPr>
            <a:spLocks noGrp="1"/>
          </p:cNvSpPr>
          <p:nvPr/>
        </p:nvSpPr>
        <p:spPr>
          <a:xfrm>
            <a:off x="6362700" y="4724400"/>
            <a:ext cx="2228850" cy="0"/>
          </a:xfrm>
          <a:prstGeom prst="line">
            <a:avLst/>
          </a:prstGeom>
          <a:noFill/>
          <a:ln w="9525">
            <a:solidFill>
              <a:srgbClr val="16335B"/>
            </a:solidFill>
            <a:prstDash val="solid"/>
          </a:ln>
        </p:spPr>
      </p:sp>
      <p:sp>
        <p:nvSpPr>
          <p:cNvPr id="22" name="trust-verdict-2">
            <a:extLst>
              <a:ext uri="{FF2B5EF4-FFF2-40B4-BE49-F238E27FC236}">
                <a16:creationId xmlns:a16="http://schemas.microsoft.com/office/drawing/2014/main" id="{14BE9D83-5C94-4D2B-9463-AC934CFC4243}"/>
              </a:ext>
            </a:extLst>
          </p:cNvPr>
          <p:cNvSpPr>
            <a:spLocks noGrp="1"/>
          </p:cNvSpPr>
          <p:nvPr/>
        </p:nvSpPr>
        <p:spPr>
          <a:xfrm>
            <a:off x="6362700" y="4933950"/>
            <a:ext cx="2209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16335B"/>
                </a:solidFill>
              </a:defRPr>
            </a:pPr>
            <a:r>
              <a:rPr sz="1275" b="1">
                <a:solidFill>
                  <a:srgbClr val="16335B"/>
                </a:solidFill>
              </a:rPr>
              <a:t>Проверять критичное</a:t>
            </a:r>
          </a:p>
        </p:txBody>
      </p:sp>
      <p:sp>
        <p:nvSpPr>
          <p:cNvPr id="23" name="trust-card-3">
            <a:extLst>
              <a:ext uri="{FF2B5EF4-FFF2-40B4-BE49-F238E27FC236}">
                <a16:creationId xmlns:a16="http://schemas.microsoft.com/office/drawing/2014/main" id="{67B47C7A-DDC3-4BC0-915C-782DEC866895}"/>
              </a:ext>
            </a:extLst>
          </p:cNvPr>
          <p:cNvSpPr>
            <a:spLocks noGrp="1"/>
          </p:cNvSpPr>
          <p:nvPr/>
        </p:nvSpPr>
        <p:spPr>
          <a:xfrm>
            <a:off x="9048750" y="1381125"/>
            <a:ext cx="2686050" cy="4000500"/>
          </a:xfrm>
          <a:prstGeom prst="roundRect">
            <a:avLst>
              <a:gd name="adj" fmla="val 4255"/>
            </a:avLst>
          </a:prstGeom>
          <a:solidFill>
            <a:srgbClr val="FCE7F3"/>
          </a:solidFill>
          <a:ln w="0">
            <a:noFill/>
            <a:prstDash val="solid"/>
          </a:ln>
        </p:spPr>
      </p:sp>
      <p:sp>
        <p:nvSpPr>
          <p:cNvPr id="24" name="trust-name-3">
            <a:extLst>
              <a:ext uri="{FF2B5EF4-FFF2-40B4-BE49-F238E27FC236}">
                <a16:creationId xmlns:a16="http://schemas.microsoft.com/office/drawing/2014/main" id="{CD9AB037-D3BD-4082-BBDD-4D20D61BCA1D}"/>
              </a:ext>
            </a:extLst>
          </p:cNvPr>
          <p:cNvSpPr>
            <a:spLocks noGrp="1"/>
          </p:cNvSpPr>
          <p:nvPr/>
        </p:nvSpPr>
        <p:spPr>
          <a:xfrm>
            <a:off x="9277350" y="1685925"/>
            <a:ext cx="2133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75" b="1">
                <a:solidFill>
                  <a:srgbClr val="7E2253"/>
                </a:solidFill>
              </a:defRPr>
            </a:pPr>
            <a:r>
              <a:rPr sz="2175" b="1">
                <a:solidFill>
                  <a:srgbClr val="7E2253"/>
                </a:solidFill>
              </a:rPr>
              <a:t>Fable</a:t>
            </a:r>
          </a:p>
        </p:txBody>
      </p:sp>
      <p:sp>
        <p:nvSpPr>
          <p:cNvPr id="25" name="trust-task-3">
            <a:extLst>
              <a:ext uri="{FF2B5EF4-FFF2-40B4-BE49-F238E27FC236}">
                <a16:creationId xmlns:a16="http://schemas.microsoft.com/office/drawing/2014/main" id="{381D475D-9637-4447-AD69-D2057DC8D615}"/>
              </a:ext>
            </a:extLst>
          </p:cNvPr>
          <p:cNvSpPr>
            <a:spLocks noGrp="1"/>
          </p:cNvSpPr>
          <p:nvPr/>
        </p:nvSpPr>
        <p:spPr>
          <a:xfrm>
            <a:off x="9277350" y="2447925"/>
            <a:ext cx="22098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7E2253"/>
                </a:solidFill>
              </a:defRPr>
            </a:pPr>
            <a:r>
              <a:rPr sz="1425" b="1">
                <a:solidFill>
                  <a:srgbClr val="7E2253"/>
                </a:solidFill>
              </a:rPr>
              <a:t>Сложные цепочки и интеграция</a:t>
            </a:r>
          </a:p>
        </p:txBody>
      </p:sp>
      <p:sp>
        <p:nvSpPr>
          <p:cNvPr id="26" name="trust-rule-3">
            <a:extLst>
              <a:ext uri="{FF2B5EF4-FFF2-40B4-BE49-F238E27FC236}">
                <a16:creationId xmlns:a16="http://schemas.microsoft.com/office/drawing/2014/main" id="{22429914-3FA5-4C88-B33B-B74D41F42EBE}"/>
              </a:ext>
            </a:extLst>
          </p:cNvPr>
          <p:cNvSpPr>
            <a:spLocks noGrp="1"/>
          </p:cNvSpPr>
          <p:nvPr/>
        </p:nvSpPr>
        <p:spPr>
          <a:xfrm>
            <a:off x="9277350" y="3495675"/>
            <a:ext cx="22098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63" b="0">
                <a:solidFill>
                  <a:srgbClr val="7E2253"/>
                </a:solidFill>
              </a:defRPr>
            </a:pPr>
            <a:r>
              <a:rPr sz="1163" b="0">
                <a:solidFill>
                  <a:srgbClr val="7E2253"/>
                </a:solidFill>
              </a:rPr>
              <a:t>Плюс: лучшее качество на сложном прогоне.</a:t>
            </a:r>
          </a:p>
          <a:p>
            <a:pPr algn="l">
              <a:defRPr sz="1163" b="0">
                <a:solidFill>
                  <a:srgbClr val="7E2253"/>
                </a:solidFill>
              </a:defRPr>
            </a:pPr>
            <a:r>
              <a:rPr sz="1163" b="0">
                <a:solidFill>
                  <a:srgbClr val="7E2253"/>
                </a:solidFill>
              </a:rPr>
              <a:t>Минус: может принять слабого судью и не вывести смену яруса из факта переключения.</a:t>
            </a:r>
          </a:p>
        </p:txBody>
      </p:sp>
      <p:sp>
        <p:nvSpPr>
          <p:cNvPr id="27" name="trust-rule-line-3">
            <a:extLst>
              <a:ext uri="{FF2B5EF4-FFF2-40B4-BE49-F238E27FC236}">
                <a16:creationId xmlns:a16="http://schemas.microsoft.com/office/drawing/2014/main" id="{B6BF0436-686C-4E4E-A55B-B15BB2D7F8E7}"/>
              </a:ext>
            </a:extLst>
          </p:cNvPr>
          <p:cNvSpPr>
            <a:spLocks noGrp="1"/>
          </p:cNvSpPr>
          <p:nvPr/>
        </p:nvSpPr>
        <p:spPr>
          <a:xfrm>
            <a:off x="9277350" y="4724400"/>
            <a:ext cx="2228850" cy="0"/>
          </a:xfrm>
          <a:prstGeom prst="line">
            <a:avLst/>
          </a:prstGeom>
          <a:noFill/>
          <a:ln w="9525">
            <a:solidFill>
              <a:srgbClr val="7E2253"/>
            </a:solidFill>
            <a:prstDash val="solid"/>
          </a:ln>
        </p:spPr>
      </p:sp>
      <p:sp>
        <p:nvSpPr>
          <p:cNvPr id="28" name="trust-verdict-3">
            <a:extLst>
              <a:ext uri="{FF2B5EF4-FFF2-40B4-BE49-F238E27FC236}">
                <a16:creationId xmlns:a16="http://schemas.microsoft.com/office/drawing/2014/main" id="{065205B2-1688-4998-AB81-421E4798B5A4}"/>
              </a:ext>
            </a:extLst>
          </p:cNvPr>
          <p:cNvSpPr>
            <a:spLocks noGrp="1"/>
          </p:cNvSpPr>
          <p:nvPr/>
        </p:nvSpPr>
        <p:spPr>
          <a:xfrm>
            <a:off x="9525000" y="4843462"/>
            <a:ext cx="2209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 b="1">
                <a:solidFill>
                  <a:srgbClr val="7E2253"/>
                </a:solidFill>
              </a:defRPr>
            </a:pPr>
            <a:r>
              <a:rPr lang="ru-RU" dirty="0"/>
              <a:t>Проверять условия и источник решения</a:t>
            </a:r>
            <a:endParaRPr sz="1275" b="1" dirty="0">
              <a:solidFill>
                <a:srgbClr val="7E2253"/>
              </a:solidFill>
            </a:endParaRPr>
          </a:p>
        </p:txBody>
      </p:sp>
      <p:sp>
        <p:nvSpPr>
          <p:cNvPr id="29" name="bottom-claim">
            <a:extLst>
              <a:ext uri="{FF2B5EF4-FFF2-40B4-BE49-F238E27FC236}">
                <a16:creationId xmlns:a16="http://schemas.microsoft.com/office/drawing/2014/main" id="{55076771-2885-4464-A3DD-C5D2A10DC44B}"/>
              </a:ext>
            </a:extLst>
          </p:cNvPr>
          <p:cNvSpPr>
            <a:spLocks noGrp="1"/>
          </p:cNvSpPr>
          <p:nvPr/>
        </p:nvSpPr>
        <p:spPr>
          <a:xfrm>
            <a:off x="647700" y="5791200"/>
            <a:ext cx="10858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Доверие привязывается не к названию модели: важны роль, свежая проверка и контекст, в котором сделан вывод.</a:t>
            </a:r>
          </a:p>
        </p:txBody>
      </p:sp>
    </p:spTree>
    <p:extLst>
      <p:ext uri="{BB962C8B-B14F-4D97-AF65-F5344CB8AC3E}">
        <p14:creationId xmlns:p14="http://schemas.microsoft.com/office/powerpoint/2010/main" val="1107638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yebrow">
            <a:extLst>
              <a:ext uri="{FF2B5EF4-FFF2-40B4-BE49-F238E27FC236}">
                <a16:creationId xmlns:a16="http://schemas.microsoft.com/office/drawing/2014/main" id="{E7F78372-63D7-4394-A5D7-4221666814BF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Вывод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B848DF3-A35A-413D-8CD8-5D17FAED0151}"/>
              </a:ext>
            </a:extLst>
          </p:cNvPr>
          <p:cNvSpPr>
            <a:spLocks noGrp="1"/>
          </p:cNvSpPr>
          <p:nvPr/>
        </p:nvSpPr>
        <p:spPr>
          <a:xfrm>
            <a:off x="400050" y="1390650"/>
            <a:ext cx="76200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4200" b="1">
                <a:solidFill>
                  <a:srgbClr val="101828"/>
                </a:solidFill>
              </a:defRPr>
            </a:pPr>
            <a:r>
              <a:rPr sz="4200" b="1">
                <a:solidFill>
                  <a:srgbClr val="101828"/>
                </a:solidFill>
              </a:rPr>
              <a:t>Доверять надо не</a:t>
            </a:r>
          </a:p>
          <a:p>
            <a:pPr algn="l">
              <a:defRPr sz="4200" b="1">
                <a:solidFill>
                  <a:srgbClr val="101828"/>
                </a:solidFill>
              </a:defRPr>
            </a:pPr>
            <a:r>
              <a:rPr sz="4200" b="1">
                <a:solidFill>
                  <a:srgbClr val="101828"/>
                </a:solidFill>
              </a:rPr>
              <a:t>уверенности модели,</a:t>
            </a:r>
          </a:p>
          <a:p>
            <a:pPr algn="l">
              <a:defRPr sz="4200" b="1">
                <a:solidFill>
                  <a:srgbClr val="101828"/>
                </a:solidFill>
              </a:defRPr>
            </a:pPr>
            <a:r>
              <a:rPr sz="4200" b="1">
                <a:solidFill>
                  <a:srgbClr val="101828"/>
                </a:solidFill>
              </a:rPr>
              <a:t>а устройству проверки</a:t>
            </a:r>
          </a:p>
        </p:txBody>
      </p:sp>
      <p:sp>
        <p:nvSpPr>
          <p:cNvPr id="3" name="closing-block">
            <a:extLst>
              <a:ext uri="{FF2B5EF4-FFF2-40B4-BE49-F238E27FC236}">
                <a16:creationId xmlns:a16="http://schemas.microsoft.com/office/drawing/2014/main" id="{B4929CC8-D0F7-458F-8464-0BE31AA8AE45}"/>
              </a:ext>
            </a:extLst>
          </p:cNvPr>
          <p:cNvSpPr>
            <a:spLocks noGrp="1"/>
          </p:cNvSpPr>
          <p:nvPr/>
        </p:nvSpPr>
        <p:spPr>
          <a:xfrm>
            <a:off x="8610600" y="1562100"/>
            <a:ext cx="2305050" cy="2305050"/>
          </a:xfrm>
          <a:prstGeom prst="roundRect">
            <a:avLst>
              <a:gd name="adj" fmla="val 4959"/>
            </a:avLst>
          </a:prstGeom>
          <a:solidFill>
            <a:srgbClr val="16335B"/>
          </a:solidFill>
          <a:ln w="9525">
            <a:solidFill>
              <a:srgbClr val="16335B"/>
            </a:solidFill>
            <a:prstDash val="solid"/>
          </a:ln>
        </p:spPr>
      </p:sp>
      <p:sp>
        <p:nvSpPr>
          <p:cNvPr id="4" name="closing-block-text">
            <a:extLst>
              <a:ext uri="{FF2B5EF4-FFF2-40B4-BE49-F238E27FC236}">
                <a16:creationId xmlns:a16="http://schemas.microsoft.com/office/drawing/2014/main" id="{465F79BD-5186-43F1-93E6-415B415C2CCB}"/>
              </a:ext>
            </a:extLst>
          </p:cNvPr>
          <p:cNvSpPr>
            <a:spLocks noGrp="1"/>
          </p:cNvSpPr>
          <p:nvPr/>
        </p:nvSpPr>
        <p:spPr>
          <a:xfrm>
            <a:off x="8877300" y="1885950"/>
            <a:ext cx="17716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Где ошибка</a:t>
            </a:r>
          </a:p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незаметна</a:t>
            </a:r>
          </a:p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и дорога —</a:t>
            </a:r>
          </a:p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нужна</a:t>
            </a:r>
          </a:p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независимая</a:t>
            </a:r>
          </a:p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проверка.</a:t>
            </a:r>
          </a:p>
        </p:txBody>
      </p:sp>
      <p:sp>
        <p:nvSpPr>
          <p:cNvPr id="5" name="questions-title">
            <a:extLst>
              <a:ext uri="{FF2B5EF4-FFF2-40B4-BE49-F238E27FC236}">
                <a16:creationId xmlns:a16="http://schemas.microsoft.com/office/drawing/2014/main" id="{1EEA2FB8-047D-4516-B8D6-D75C3FAB639B}"/>
              </a:ext>
            </a:extLst>
          </p:cNvPr>
          <p:cNvSpPr>
            <a:spLocks noGrp="1"/>
          </p:cNvSpPr>
          <p:nvPr/>
        </p:nvSpPr>
        <p:spPr>
          <a:xfrm>
            <a:off x="400050" y="4343400"/>
            <a:ext cx="590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16335B"/>
                </a:solidFill>
              </a:defRPr>
            </a:pPr>
            <a:r>
              <a:rPr sz="1875" b="1">
                <a:solidFill>
                  <a:srgbClr val="16335B"/>
                </a:solidFill>
              </a:rPr>
              <a:t>Три вопроса перед делегированием:</a:t>
            </a:r>
          </a:p>
        </p:txBody>
      </p:sp>
      <p:sp>
        <p:nvSpPr>
          <p:cNvPr id="6" name="questions">
            <a:extLst>
              <a:ext uri="{FF2B5EF4-FFF2-40B4-BE49-F238E27FC236}">
                <a16:creationId xmlns:a16="http://schemas.microsoft.com/office/drawing/2014/main" id="{4F9222FB-3967-464A-9070-321CF1BC09E0}"/>
              </a:ext>
            </a:extLst>
          </p:cNvPr>
          <p:cNvSpPr>
            <a:spLocks noGrp="1"/>
          </p:cNvSpPr>
          <p:nvPr/>
        </p:nvSpPr>
        <p:spPr>
          <a:xfrm>
            <a:off x="400050" y="4895850"/>
            <a:ext cx="7715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0">
                <a:solidFill>
                  <a:srgbClr val="101828"/>
                </a:solidFill>
              </a:defRPr>
            </a:pPr>
            <a:r>
              <a:rPr sz="2025" b="0">
                <a:solidFill>
                  <a:srgbClr val="101828"/>
                </a:solidFill>
              </a:rPr>
              <a:t>1. Где ошибка будет незаметной и дорогой?</a:t>
            </a:r>
          </a:p>
          <a:p>
            <a:pPr algn="l">
              <a:defRPr sz="2025" b="0">
                <a:solidFill>
                  <a:srgbClr val="101828"/>
                </a:solidFill>
              </a:defRPr>
            </a:pPr>
            <a:r>
              <a:rPr sz="2025" b="0">
                <a:solidFill>
                  <a:srgbClr val="101828"/>
                </a:solidFill>
              </a:rPr>
              <a:t>2. Можно ли проверить это автоматически?</a:t>
            </a:r>
          </a:p>
          <a:p>
            <a:pPr algn="l">
              <a:defRPr sz="2025" b="0">
                <a:solidFill>
                  <a:srgbClr val="101828"/>
                </a:solidFill>
              </a:defRPr>
            </a:pPr>
            <a:r>
              <a:rPr sz="2025" b="0">
                <a:solidFill>
                  <a:srgbClr val="101828"/>
                </a:solidFill>
              </a:rPr>
              <a:t>3. Если нет — кто обязан проверить независимо?</a:t>
            </a:r>
          </a:p>
        </p:txBody>
      </p:sp>
    </p:spTree>
    <p:extLst>
      <p:ext uri="{BB962C8B-B14F-4D97-AF65-F5344CB8AC3E}">
        <p14:creationId xmlns:p14="http://schemas.microsoft.com/office/powerpoint/2010/main" val="182736499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1172</Words>
  <Application>Microsoft Office PowerPoint</Application>
  <DocSecurity>0</DocSecurity>
  <PresentationFormat>Широкоэкранный</PresentationFormat>
  <Paragraphs>178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Calibri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Mariia</cp:lastModifiedBy>
  <cp:revision>2</cp:revision>
  <dcterms:created xsi:type="dcterms:W3CDTF">2026-08-17T12:29:55Z</dcterms:created>
  <dcterms:modified xsi:type="dcterms:W3CDTF">2026-08-17T14:12:31Z</dcterms:modified>
</cp:coreProperties>
</file>